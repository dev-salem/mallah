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promise. Mallah is not another content site; it is a system that turns uncertainty into a guided progression from learning to employability. Name the team, supervisor, and university, then move quickly into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feel human, not abstract. Emphasize that the failure is not effort; the failure is fragmentation. Set up the rest of the deck around the missing link between education and employability.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the problem to national relevance without sounding generic. Use the references as proof that digital guidance and employability matter at a systems level, then bring it back to the learner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Mallah in one sentence and then walk left to right. The message is that the value comes from connection. Each module becomes more useful because it is connected to the others.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slide between problem and product proof. Keep it calm and visual. The audience should be able to repeat the system back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the visual proof slide. If screenshots are available, pause long enough for the judges to register that the product is real and broad.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learner value first: clarity and sequence. Then mention the internal logic: stage structure, topic progress, and milestone gating make the roadmap a real system rather than a static checklist.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show the deck that Mallah does not stop at learning. It converts progress into visible proof. That is a major difference between education tooling and employability tooling.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differentiator slide. Make the contrast explicit: most tools either help you learn or help you apply. Mallah connects the gap between the two.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judges need to trust the implementation without being buried in stack noise. Mention that AI is used by exception, not everywhere, and that the architecture reflects that choice.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visual and compressed. The goal is to show engineering discipline and project maturity, not to read a process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should make the judges feel scale. Mention the bilingual experience, the admin layer, and the fact that the platform covers the full learning-to-application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confident here. The goal is not to insult other tools; it is to show that Mallah is valuable because it integrates what learners normally patch together manually.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human problem from slide two. End on the learner outcome, not the tech stack. This should sound like a completed, defendable system with a meaningful purpose.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only if asked for sources or context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and invite questions. Keep the final tone calm and assured.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01  GRADUATION PROJECT</a:t>
            </a:r>
          </a:p>
        </p:txBody>
      </p:sp>
      <p:sp>
        <p:nvSpPr>
          <p:cNvPr id="17" name="Rounded Rectangle 16"/>
          <p:cNvSpPr/>
          <p:nvPr/>
        </p:nvSpPr>
        <p:spPr>
          <a:xfrm>
            <a:off x="530352" y="960120"/>
            <a:ext cx="868680" cy="3474720"/>
          </a:xfrm>
          <a:prstGeom prst="roundRect">
            <a:avLst/>
          </a:prstGeom>
          <a:solidFill>
            <a:srgbClr val="5736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170432"/>
            <a:ext cx="457200" cy="2926080"/>
          </a:xfrm>
          <a:prstGeom prst="rect">
            <a:avLst/>
          </a:prstGeom>
          <a:noFill/>
        </p:spPr>
        <p:txBody>
          <a:bodyPr wrap="square" anchor="t">
            <a:spAutoFit/>
          </a:bodyPr>
          <a:lstStyle/>
          <a:p>
            <a:pPr algn="ctr"/>
            <a:r>
              <a:rPr sz="2000" b="1" i="0">
                <a:solidFill>
                  <a:srgbClr val="E0823A"/>
                </a:solidFill>
                <a:latin typeface="Aptos Mono"/>
              </a:rPr>
              <a:t>M
A
L
L
A
H</a:t>
            </a:r>
          </a:p>
        </p:txBody>
      </p:sp>
      <p:sp>
        <p:nvSpPr>
          <p:cNvPr id="19" name="TextBox 18"/>
          <p:cNvSpPr txBox="1"/>
          <p:nvPr/>
        </p:nvSpPr>
        <p:spPr>
          <a:xfrm>
            <a:off x="1645920" y="1005840"/>
            <a:ext cx="7132320" cy="1280160"/>
          </a:xfrm>
          <a:prstGeom prst="rect">
            <a:avLst/>
          </a:prstGeom>
          <a:noFill/>
        </p:spPr>
        <p:txBody>
          <a:bodyPr wrap="square" anchor="t">
            <a:spAutoFit/>
          </a:bodyPr>
          <a:lstStyle/>
          <a:p>
            <a:pPr algn="l"/>
            <a:r>
              <a:rPr sz="3000" b="1" i="0">
                <a:solidFill>
                  <a:srgbClr val="F2ECE0"/>
                </a:solidFill>
                <a:latin typeface="Aptos Display"/>
              </a:rPr>
              <a:t>Mallah: From Confusion to Job Readiness</a:t>
            </a:r>
          </a:p>
        </p:txBody>
      </p:sp>
      <p:sp>
        <p:nvSpPr>
          <p:cNvPr id="20" name="TextBox 19"/>
          <p:cNvSpPr txBox="1"/>
          <p:nvPr/>
        </p:nvSpPr>
        <p:spPr>
          <a:xfrm>
            <a:off x="1682496" y="2148840"/>
            <a:ext cx="6309360" cy="1097280"/>
          </a:xfrm>
          <a:prstGeom prst="rect">
            <a:avLst/>
          </a:prstGeom>
          <a:noFill/>
        </p:spPr>
        <p:txBody>
          <a:bodyPr wrap="square" anchor="t">
            <a:spAutoFit/>
          </a:bodyPr>
          <a:lstStyle/>
          <a:p>
            <a:pPr algn="l"/>
            <a:r>
              <a:rPr sz="1600" b="0" i="0">
                <a:solidFill>
                  <a:srgbClr val="B0AA9E"/>
                </a:solidFill>
                <a:latin typeface="Aptos"/>
              </a:rPr>
              <a:t>An AI-guided platform that helps CS and IT learners choose a path, build proof, and move toward real opportunities with more structure and less wasted effort.</a:t>
            </a:r>
          </a:p>
        </p:txBody>
      </p:sp>
      <p:sp>
        <p:nvSpPr>
          <p:cNvPr id="21" name="TextBox 20"/>
          <p:cNvSpPr txBox="1"/>
          <p:nvPr/>
        </p:nvSpPr>
        <p:spPr>
          <a:xfrm>
            <a:off x="1691640" y="4251960"/>
            <a:ext cx="4480560" cy="457200"/>
          </a:xfrm>
          <a:prstGeom prst="rect">
            <a:avLst/>
          </a:prstGeom>
          <a:noFill/>
        </p:spPr>
        <p:txBody>
          <a:bodyPr wrap="square" anchor="t">
            <a:spAutoFit/>
          </a:bodyPr>
          <a:lstStyle/>
          <a:p>
            <a:pPr algn="l"/>
            <a:r>
              <a:rPr sz="1200" b="0" i="0">
                <a:solidFill>
                  <a:srgbClr val="F2ECE0"/>
                </a:solidFill>
                <a:latin typeface="Aptos"/>
              </a:rPr>
              <a:t>Presented by Abdulaziz F. Alotaibi · Salem S. Hamed · Nader F. Alotaibi · Jamal A. Sweidan</a:t>
            </a:r>
          </a:p>
        </p:txBody>
      </p:sp>
      <p:sp>
        <p:nvSpPr>
          <p:cNvPr id="22" name="TextBox 21"/>
          <p:cNvSpPr txBox="1"/>
          <p:nvPr/>
        </p:nvSpPr>
        <p:spPr>
          <a:xfrm>
            <a:off x="6446520" y="4251960"/>
            <a:ext cx="4800600" cy="457200"/>
          </a:xfrm>
          <a:prstGeom prst="rect">
            <a:avLst/>
          </a:prstGeom>
          <a:noFill/>
        </p:spPr>
        <p:txBody>
          <a:bodyPr wrap="square" anchor="t">
            <a:spAutoFit/>
          </a:bodyPr>
          <a:lstStyle/>
          <a:p>
            <a:pPr algn="l"/>
            <a:r>
              <a:rPr sz="1200" b="0" i="0">
                <a:solidFill>
                  <a:srgbClr val="B0AA9E"/>
                </a:solidFill>
                <a:latin typeface="Aptos"/>
              </a:rPr>
              <a:t>Supervisor: Dr. Mohammed Elfaki · Shaqra University</a:t>
            </a:r>
          </a:p>
        </p:txBody>
      </p:sp>
      <p:sp>
        <p:nvSpPr>
          <p:cNvPr id="23" name="Rounded Rectangle 22"/>
          <p:cNvSpPr/>
          <p:nvPr/>
        </p:nvSpPr>
        <p:spPr>
          <a:xfrm>
            <a:off x="6492240" y="1261872"/>
            <a:ext cx="4343400" cy="2148840"/>
          </a:xfrm>
          <a:prstGeom prst="roundRect">
            <a:avLst/>
          </a:prstGeom>
          <a:solidFill>
            <a:srgbClr val="1E2227"/>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48272" y="1508760"/>
            <a:ext cx="3749039" cy="320040"/>
          </a:xfrm>
          <a:prstGeom prst="rect">
            <a:avLst/>
          </a:prstGeom>
          <a:noFill/>
        </p:spPr>
        <p:txBody>
          <a:bodyPr wrap="square" anchor="t">
            <a:spAutoFit/>
          </a:bodyPr>
          <a:lstStyle/>
          <a:p>
            <a:pPr algn="l"/>
            <a:r>
              <a:rPr sz="1000" b="1" i="0">
                <a:solidFill>
                  <a:srgbClr val="E0823A"/>
                </a:solidFill>
                <a:latin typeface="Aptos Mono"/>
              </a:rPr>
              <a:t>THESIS POSITION</a:t>
            </a:r>
          </a:p>
        </p:txBody>
      </p:sp>
      <p:sp>
        <p:nvSpPr>
          <p:cNvPr id="25" name="TextBox 24"/>
          <p:cNvSpPr txBox="1"/>
          <p:nvPr/>
        </p:nvSpPr>
        <p:spPr>
          <a:xfrm>
            <a:off x="6748272" y="1874519"/>
            <a:ext cx="3657600" cy="1280160"/>
          </a:xfrm>
          <a:prstGeom prst="rect">
            <a:avLst/>
          </a:prstGeom>
          <a:noFill/>
        </p:spPr>
        <p:txBody>
          <a:bodyPr wrap="square" anchor="t">
            <a:spAutoFit/>
          </a:bodyPr>
          <a:lstStyle/>
          <a:p>
            <a:pPr algn="l"/>
            <a:r>
              <a:rPr sz="2000" b="1" i="0">
                <a:solidFill>
                  <a:srgbClr val="F2ECE0"/>
                </a:solidFill>
                <a:latin typeface="Aptos Display"/>
              </a:rPr>
              <a:t>A product defense deck for a platform that bridges learning, proof, and employability.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02  PROBLEM</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Graduates do not need more content.</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They need direction, proof, and a clear moment when they know they are ready to apply.</a:t>
            </a:r>
          </a:p>
        </p:txBody>
      </p:sp>
      <p:sp>
        <p:nvSpPr>
          <p:cNvPr id="19" name="Rounded Rectangle 18"/>
          <p:cNvSpPr/>
          <p:nvPr/>
        </p:nvSpPr>
        <p:spPr>
          <a:xfrm>
            <a:off x="548640" y="2788920"/>
            <a:ext cx="2743200" cy="2331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017520"/>
            <a:ext cx="457200" cy="320040"/>
          </a:xfrm>
          <a:prstGeom prst="rect">
            <a:avLst/>
          </a:prstGeom>
          <a:noFill/>
        </p:spPr>
        <p:txBody>
          <a:bodyPr wrap="square" anchor="t">
            <a:spAutoFit/>
          </a:bodyPr>
          <a:lstStyle/>
          <a:p>
            <a:pPr algn="l"/>
            <a:r>
              <a:rPr sz="1200" b="1" i="0">
                <a:solidFill>
                  <a:srgbClr val="E0823A"/>
                </a:solidFill>
                <a:latin typeface="Aptos Mono"/>
              </a:rPr>
              <a:t>01</a:t>
            </a:r>
          </a:p>
        </p:txBody>
      </p:sp>
      <p:sp>
        <p:nvSpPr>
          <p:cNvPr id="21" name="TextBox 20"/>
          <p:cNvSpPr txBox="1"/>
          <p:nvPr/>
        </p:nvSpPr>
        <p:spPr>
          <a:xfrm>
            <a:off x="713232" y="3401568"/>
            <a:ext cx="2286000" cy="411480"/>
          </a:xfrm>
          <a:prstGeom prst="rect">
            <a:avLst/>
          </a:prstGeom>
          <a:noFill/>
        </p:spPr>
        <p:txBody>
          <a:bodyPr wrap="square" anchor="t">
            <a:spAutoFit/>
          </a:bodyPr>
          <a:lstStyle/>
          <a:p>
            <a:pPr algn="l"/>
            <a:r>
              <a:rPr sz="2000" b="1" i="0">
                <a:solidFill>
                  <a:srgbClr val="F2ECE0"/>
                </a:solidFill>
                <a:latin typeface="Aptos Display"/>
              </a:rPr>
              <a:t>Theory</a:t>
            </a:r>
          </a:p>
        </p:txBody>
      </p:sp>
      <p:sp>
        <p:nvSpPr>
          <p:cNvPr id="22" name="TextBox 21"/>
          <p:cNvSpPr txBox="1"/>
          <p:nvPr/>
        </p:nvSpPr>
        <p:spPr>
          <a:xfrm>
            <a:off x="713232" y="3858768"/>
            <a:ext cx="2331720" cy="960120"/>
          </a:xfrm>
          <a:prstGeom prst="rect">
            <a:avLst/>
          </a:prstGeom>
          <a:noFill/>
        </p:spPr>
        <p:txBody>
          <a:bodyPr wrap="square" anchor="t">
            <a:spAutoFit/>
          </a:bodyPr>
          <a:lstStyle/>
          <a:p>
            <a:pPr algn="l"/>
            <a:r>
              <a:rPr sz="1400" b="0" i="0">
                <a:solidFill>
                  <a:srgbClr val="B0AA9E"/>
                </a:solidFill>
                <a:latin typeface="Aptos"/>
              </a:rPr>
              <a:t>University builds knowledge. Hiring asks for visible execution.</a:t>
            </a:r>
          </a:p>
        </p:txBody>
      </p:sp>
      <p:sp>
        <p:nvSpPr>
          <p:cNvPr id="23" name="Rounded Rectangle 22"/>
          <p:cNvSpPr/>
          <p:nvPr/>
        </p:nvSpPr>
        <p:spPr>
          <a:xfrm>
            <a:off x="3977639" y="2788920"/>
            <a:ext cx="2743200" cy="2331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42231" y="3017520"/>
            <a:ext cx="457200" cy="320040"/>
          </a:xfrm>
          <a:prstGeom prst="rect">
            <a:avLst/>
          </a:prstGeom>
          <a:noFill/>
        </p:spPr>
        <p:txBody>
          <a:bodyPr wrap="square" anchor="t">
            <a:spAutoFit/>
          </a:bodyPr>
          <a:lstStyle/>
          <a:p>
            <a:pPr algn="l"/>
            <a:r>
              <a:rPr sz="1200" b="1" i="0">
                <a:solidFill>
                  <a:srgbClr val="E0823A"/>
                </a:solidFill>
                <a:latin typeface="Aptos Mono"/>
              </a:rPr>
              <a:t>02</a:t>
            </a:r>
          </a:p>
        </p:txBody>
      </p:sp>
      <p:sp>
        <p:nvSpPr>
          <p:cNvPr id="25" name="TextBox 24"/>
          <p:cNvSpPr txBox="1"/>
          <p:nvPr/>
        </p:nvSpPr>
        <p:spPr>
          <a:xfrm>
            <a:off x="4142231" y="3401568"/>
            <a:ext cx="2286000" cy="411480"/>
          </a:xfrm>
          <a:prstGeom prst="rect">
            <a:avLst/>
          </a:prstGeom>
          <a:noFill/>
        </p:spPr>
        <p:txBody>
          <a:bodyPr wrap="square" anchor="t">
            <a:spAutoFit/>
          </a:bodyPr>
          <a:lstStyle/>
          <a:p>
            <a:pPr algn="l"/>
            <a:r>
              <a:rPr sz="2000" b="1" i="0">
                <a:solidFill>
                  <a:srgbClr val="F2ECE0"/>
                </a:solidFill>
                <a:latin typeface="Aptos Display"/>
              </a:rPr>
              <a:t>Noise</a:t>
            </a:r>
          </a:p>
        </p:txBody>
      </p:sp>
      <p:sp>
        <p:nvSpPr>
          <p:cNvPr id="26" name="TextBox 25"/>
          <p:cNvSpPr txBox="1"/>
          <p:nvPr/>
        </p:nvSpPr>
        <p:spPr>
          <a:xfrm>
            <a:off x="4142231" y="3858768"/>
            <a:ext cx="2331720" cy="960120"/>
          </a:xfrm>
          <a:prstGeom prst="rect">
            <a:avLst/>
          </a:prstGeom>
          <a:noFill/>
        </p:spPr>
        <p:txBody>
          <a:bodyPr wrap="square" anchor="t">
            <a:spAutoFit/>
          </a:bodyPr>
          <a:lstStyle/>
          <a:p>
            <a:pPr algn="l"/>
            <a:r>
              <a:rPr sz="1400" b="0" i="0">
                <a:solidFill>
                  <a:srgbClr val="B0AA9E"/>
                </a:solidFill>
                <a:latin typeface="Aptos"/>
              </a:rPr>
              <a:t>The internet offers thousands of disconnected tutorials and no sequence.</a:t>
            </a:r>
          </a:p>
        </p:txBody>
      </p:sp>
      <p:sp>
        <p:nvSpPr>
          <p:cNvPr id="27" name="Rounded Rectangle 26"/>
          <p:cNvSpPr/>
          <p:nvPr/>
        </p:nvSpPr>
        <p:spPr>
          <a:xfrm>
            <a:off x="7406640" y="2788920"/>
            <a:ext cx="2743200" cy="2331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71231" y="3017520"/>
            <a:ext cx="457200" cy="320040"/>
          </a:xfrm>
          <a:prstGeom prst="rect">
            <a:avLst/>
          </a:prstGeom>
          <a:noFill/>
        </p:spPr>
        <p:txBody>
          <a:bodyPr wrap="square" anchor="t">
            <a:spAutoFit/>
          </a:bodyPr>
          <a:lstStyle/>
          <a:p>
            <a:pPr algn="l"/>
            <a:r>
              <a:rPr sz="1200" b="1" i="0">
                <a:solidFill>
                  <a:srgbClr val="E0823A"/>
                </a:solidFill>
                <a:latin typeface="Aptos Mono"/>
              </a:rPr>
              <a:t>03</a:t>
            </a:r>
          </a:p>
        </p:txBody>
      </p:sp>
      <p:sp>
        <p:nvSpPr>
          <p:cNvPr id="29" name="TextBox 28"/>
          <p:cNvSpPr txBox="1"/>
          <p:nvPr/>
        </p:nvSpPr>
        <p:spPr>
          <a:xfrm>
            <a:off x="7571231" y="3401568"/>
            <a:ext cx="2286000" cy="411480"/>
          </a:xfrm>
          <a:prstGeom prst="rect">
            <a:avLst/>
          </a:prstGeom>
          <a:noFill/>
        </p:spPr>
        <p:txBody>
          <a:bodyPr wrap="square" anchor="t">
            <a:spAutoFit/>
          </a:bodyPr>
          <a:lstStyle/>
          <a:p>
            <a:pPr algn="l"/>
            <a:r>
              <a:rPr sz="2000" b="1" i="0">
                <a:solidFill>
                  <a:srgbClr val="F2ECE0"/>
                </a:solidFill>
                <a:latin typeface="Aptos Display"/>
              </a:rPr>
              <a:t>Readiness</a:t>
            </a:r>
          </a:p>
        </p:txBody>
      </p:sp>
      <p:sp>
        <p:nvSpPr>
          <p:cNvPr id="30" name="TextBox 29"/>
          <p:cNvSpPr txBox="1"/>
          <p:nvPr/>
        </p:nvSpPr>
        <p:spPr>
          <a:xfrm>
            <a:off x="7571231" y="3858768"/>
            <a:ext cx="2331720" cy="960120"/>
          </a:xfrm>
          <a:prstGeom prst="rect">
            <a:avLst/>
          </a:prstGeom>
          <a:noFill/>
        </p:spPr>
        <p:txBody>
          <a:bodyPr wrap="square" anchor="t">
            <a:spAutoFit/>
          </a:bodyPr>
          <a:lstStyle/>
          <a:p>
            <a:pPr algn="l"/>
            <a:r>
              <a:rPr sz="1400" b="0" i="0">
                <a:solidFill>
                  <a:srgbClr val="B0AA9E"/>
                </a:solidFill>
                <a:latin typeface="Aptos"/>
              </a:rPr>
              <a:t>Learners cannot tell whether to study more or start applying.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03  SAUDI CONTEXT</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This gap matters even more now.</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Saudi digital transformation creates demand for talent, but many learners still reach graduation without a structured bridge into entry-level technical work.</a:t>
            </a:r>
          </a:p>
        </p:txBody>
      </p:sp>
      <p:sp>
        <p:nvSpPr>
          <p:cNvPr id="19" name="Rectangle 18"/>
          <p:cNvSpPr/>
          <p:nvPr/>
        </p:nvSpPr>
        <p:spPr>
          <a:xfrm>
            <a:off x="548640" y="2788920"/>
            <a:ext cx="10698480" cy="84124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926079"/>
            <a:ext cx="2286000" cy="274320"/>
          </a:xfrm>
          <a:prstGeom prst="rect">
            <a:avLst/>
          </a:prstGeom>
          <a:noFill/>
        </p:spPr>
        <p:txBody>
          <a:bodyPr wrap="square" anchor="t">
            <a:spAutoFit/>
          </a:bodyPr>
          <a:lstStyle/>
          <a:p>
            <a:pPr algn="l"/>
            <a:r>
              <a:rPr sz="1100" b="1" i="0">
                <a:solidFill>
                  <a:srgbClr val="E0823A"/>
                </a:solidFill>
                <a:latin typeface="Aptos Mono"/>
              </a:rPr>
              <a:t>LOCAL NEED</a:t>
            </a:r>
          </a:p>
        </p:txBody>
      </p:sp>
      <p:sp>
        <p:nvSpPr>
          <p:cNvPr id="21" name="TextBox 20"/>
          <p:cNvSpPr txBox="1"/>
          <p:nvPr/>
        </p:nvSpPr>
        <p:spPr>
          <a:xfrm>
            <a:off x="2743200" y="2898648"/>
            <a:ext cx="8046720" cy="411480"/>
          </a:xfrm>
          <a:prstGeom prst="rect">
            <a:avLst/>
          </a:prstGeom>
          <a:noFill/>
        </p:spPr>
        <p:txBody>
          <a:bodyPr wrap="square" anchor="t">
            <a:spAutoFit/>
          </a:bodyPr>
          <a:lstStyle/>
          <a:p>
            <a:pPr algn="l"/>
            <a:r>
              <a:rPr sz="1500" b="0" i="0">
                <a:solidFill>
                  <a:srgbClr val="F2ECE0"/>
                </a:solidFill>
                <a:latin typeface="Aptos"/>
              </a:rPr>
              <a:t>Digital employability is a national priority, not a side topic.</a:t>
            </a:r>
          </a:p>
        </p:txBody>
      </p:sp>
      <p:sp>
        <p:nvSpPr>
          <p:cNvPr id="22" name="Rectangle 21"/>
          <p:cNvSpPr/>
          <p:nvPr/>
        </p:nvSpPr>
        <p:spPr>
          <a:xfrm>
            <a:off x="548640" y="3840479"/>
            <a:ext cx="10698480" cy="84124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977639"/>
            <a:ext cx="2286000" cy="274320"/>
          </a:xfrm>
          <a:prstGeom prst="rect">
            <a:avLst/>
          </a:prstGeom>
          <a:noFill/>
        </p:spPr>
        <p:txBody>
          <a:bodyPr wrap="square" anchor="t">
            <a:spAutoFit/>
          </a:bodyPr>
          <a:lstStyle/>
          <a:p>
            <a:pPr algn="l"/>
            <a:r>
              <a:rPr sz="1100" b="1" i="0">
                <a:solidFill>
                  <a:srgbClr val="E0823A"/>
                </a:solidFill>
                <a:latin typeface="Aptos Mono"/>
              </a:rPr>
              <a:t>GRADUATE REALITY</a:t>
            </a:r>
          </a:p>
        </p:txBody>
      </p:sp>
      <p:sp>
        <p:nvSpPr>
          <p:cNvPr id="24" name="TextBox 23"/>
          <p:cNvSpPr txBox="1"/>
          <p:nvPr/>
        </p:nvSpPr>
        <p:spPr>
          <a:xfrm>
            <a:off x="2743200" y="3950207"/>
            <a:ext cx="8046720" cy="411480"/>
          </a:xfrm>
          <a:prstGeom prst="rect">
            <a:avLst/>
          </a:prstGeom>
          <a:noFill/>
        </p:spPr>
        <p:txBody>
          <a:bodyPr wrap="square" anchor="t">
            <a:spAutoFit/>
          </a:bodyPr>
          <a:lstStyle/>
          <a:p>
            <a:pPr algn="l"/>
            <a:r>
              <a:rPr sz="1500" b="0" i="0">
                <a:solidFill>
                  <a:srgbClr val="F2ECE0"/>
                </a:solidFill>
                <a:latin typeface="Aptos"/>
              </a:rPr>
              <a:t>Students still face path confusion, weak portfolios, and unclear readiness.</a:t>
            </a:r>
          </a:p>
        </p:txBody>
      </p:sp>
      <p:sp>
        <p:nvSpPr>
          <p:cNvPr id="25" name="Rectangle 24"/>
          <p:cNvSpPr/>
          <p:nvPr/>
        </p:nvSpPr>
        <p:spPr>
          <a:xfrm>
            <a:off x="548640" y="4892040"/>
            <a:ext cx="10698480" cy="84124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029200"/>
            <a:ext cx="2286000" cy="274320"/>
          </a:xfrm>
          <a:prstGeom prst="rect">
            <a:avLst/>
          </a:prstGeom>
          <a:noFill/>
        </p:spPr>
        <p:txBody>
          <a:bodyPr wrap="square" anchor="t">
            <a:spAutoFit/>
          </a:bodyPr>
          <a:lstStyle/>
          <a:p>
            <a:pPr algn="l"/>
            <a:r>
              <a:rPr sz="1100" b="1" i="0">
                <a:solidFill>
                  <a:srgbClr val="E0823A"/>
                </a:solidFill>
                <a:latin typeface="Aptos Mono"/>
              </a:rPr>
              <a:t>PRODUCT OPPORTUNITY</a:t>
            </a:r>
          </a:p>
        </p:txBody>
      </p:sp>
      <p:sp>
        <p:nvSpPr>
          <p:cNvPr id="27" name="TextBox 26"/>
          <p:cNvSpPr txBox="1"/>
          <p:nvPr/>
        </p:nvSpPr>
        <p:spPr>
          <a:xfrm>
            <a:off x="2743200" y="5001768"/>
            <a:ext cx="8046720" cy="411480"/>
          </a:xfrm>
          <a:prstGeom prst="rect">
            <a:avLst/>
          </a:prstGeom>
          <a:noFill/>
        </p:spPr>
        <p:txBody>
          <a:bodyPr wrap="square" anchor="t">
            <a:spAutoFit/>
          </a:bodyPr>
          <a:lstStyle/>
          <a:p>
            <a:pPr algn="l"/>
            <a:r>
              <a:rPr sz="1500" b="0" i="0">
                <a:solidFill>
                  <a:srgbClr val="F2ECE0"/>
                </a:solidFill>
                <a:latin typeface="Aptos"/>
              </a:rPr>
              <a:t>A guided bilingual platform fits both the market need and the learner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04  PRODUCT DEFINITION</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Mallah connects the full journey.</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One platform links onboarding, roadmap learning, project evidence, resume building, job analysis, and application tracking into a single employability workflow.</a:t>
            </a:r>
          </a:p>
        </p:txBody>
      </p:sp>
      <p:sp>
        <p:nvSpPr>
          <p:cNvPr id="19" name="Rounded Rectangle 18"/>
          <p:cNvSpPr/>
          <p:nvPr/>
        </p:nvSpPr>
        <p:spPr>
          <a:xfrm>
            <a:off x="5486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3291840"/>
            <a:ext cx="1143000" cy="502920"/>
          </a:xfrm>
          <a:prstGeom prst="rect">
            <a:avLst/>
          </a:prstGeom>
          <a:noFill/>
        </p:spPr>
        <p:txBody>
          <a:bodyPr wrap="square" anchor="t">
            <a:spAutoFit/>
          </a:bodyPr>
          <a:lstStyle/>
          <a:p>
            <a:pPr algn="ctr"/>
            <a:r>
              <a:rPr sz="1800" b="1" i="0">
                <a:solidFill>
                  <a:srgbClr val="F2ECE0"/>
                </a:solidFill>
                <a:latin typeface="Aptos Display"/>
              </a:rPr>
              <a:t>Onboarding</a:t>
            </a:r>
          </a:p>
        </p:txBody>
      </p:sp>
      <p:sp>
        <p:nvSpPr>
          <p:cNvPr id="21" name="TextBox 20"/>
          <p:cNvSpPr txBox="1"/>
          <p:nvPr/>
        </p:nvSpPr>
        <p:spPr>
          <a:xfrm>
            <a:off x="2011680"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22" name="Rounded Rectangle 21"/>
          <p:cNvSpPr/>
          <p:nvPr/>
        </p:nvSpPr>
        <p:spPr>
          <a:xfrm>
            <a:off x="21488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3291840"/>
            <a:ext cx="1143000" cy="502920"/>
          </a:xfrm>
          <a:prstGeom prst="rect">
            <a:avLst/>
          </a:prstGeom>
          <a:noFill/>
        </p:spPr>
        <p:txBody>
          <a:bodyPr wrap="square" anchor="t">
            <a:spAutoFit/>
          </a:bodyPr>
          <a:lstStyle/>
          <a:p>
            <a:pPr algn="ctr"/>
            <a:r>
              <a:rPr sz="1800" b="1" i="0">
                <a:solidFill>
                  <a:srgbClr val="F2ECE0"/>
                </a:solidFill>
                <a:latin typeface="Aptos Display"/>
              </a:rPr>
              <a:t>Path Match</a:t>
            </a:r>
          </a:p>
        </p:txBody>
      </p:sp>
      <p:sp>
        <p:nvSpPr>
          <p:cNvPr id="24" name="TextBox 23"/>
          <p:cNvSpPr txBox="1"/>
          <p:nvPr/>
        </p:nvSpPr>
        <p:spPr>
          <a:xfrm>
            <a:off x="3611880"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25" name="Rounded Rectangle 24"/>
          <p:cNvSpPr/>
          <p:nvPr/>
        </p:nvSpPr>
        <p:spPr>
          <a:xfrm>
            <a:off x="3749039"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77055" y="3291840"/>
            <a:ext cx="1143000" cy="502920"/>
          </a:xfrm>
          <a:prstGeom prst="rect">
            <a:avLst/>
          </a:prstGeom>
          <a:noFill/>
        </p:spPr>
        <p:txBody>
          <a:bodyPr wrap="square" anchor="t">
            <a:spAutoFit/>
          </a:bodyPr>
          <a:lstStyle/>
          <a:p>
            <a:pPr algn="ctr"/>
            <a:r>
              <a:rPr sz="1800" b="1" i="0">
                <a:solidFill>
                  <a:srgbClr val="F2ECE0"/>
                </a:solidFill>
                <a:latin typeface="Aptos Display"/>
              </a:rPr>
              <a:t>Roadmap</a:t>
            </a:r>
          </a:p>
        </p:txBody>
      </p:sp>
      <p:sp>
        <p:nvSpPr>
          <p:cNvPr id="27" name="TextBox 26"/>
          <p:cNvSpPr txBox="1"/>
          <p:nvPr/>
        </p:nvSpPr>
        <p:spPr>
          <a:xfrm>
            <a:off x="5212079"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28" name="Rounded Rectangle 27"/>
          <p:cNvSpPr/>
          <p:nvPr/>
        </p:nvSpPr>
        <p:spPr>
          <a:xfrm>
            <a:off x="53492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77255" y="3291840"/>
            <a:ext cx="1143000" cy="502920"/>
          </a:xfrm>
          <a:prstGeom prst="rect">
            <a:avLst/>
          </a:prstGeom>
          <a:noFill/>
        </p:spPr>
        <p:txBody>
          <a:bodyPr wrap="square" anchor="t">
            <a:spAutoFit/>
          </a:bodyPr>
          <a:lstStyle/>
          <a:p>
            <a:pPr algn="ctr"/>
            <a:r>
              <a:rPr sz="1800" b="1" i="0">
                <a:solidFill>
                  <a:srgbClr val="F2ECE0"/>
                </a:solidFill>
                <a:latin typeface="Aptos Display"/>
              </a:rPr>
              <a:t>Projects</a:t>
            </a:r>
          </a:p>
        </p:txBody>
      </p:sp>
      <p:sp>
        <p:nvSpPr>
          <p:cNvPr id="30" name="TextBox 29"/>
          <p:cNvSpPr txBox="1"/>
          <p:nvPr/>
        </p:nvSpPr>
        <p:spPr>
          <a:xfrm>
            <a:off x="6812279"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31" name="Rounded Rectangle 30"/>
          <p:cNvSpPr/>
          <p:nvPr/>
        </p:nvSpPr>
        <p:spPr>
          <a:xfrm>
            <a:off x="69494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77455" y="3291840"/>
            <a:ext cx="1143000" cy="502920"/>
          </a:xfrm>
          <a:prstGeom prst="rect">
            <a:avLst/>
          </a:prstGeom>
          <a:noFill/>
        </p:spPr>
        <p:txBody>
          <a:bodyPr wrap="square" anchor="t">
            <a:spAutoFit/>
          </a:bodyPr>
          <a:lstStyle/>
          <a:p>
            <a:pPr algn="ctr"/>
            <a:r>
              <a:rPr sz="1800" b="1" i="0">
                <a:solidFill>
                  <a:srgbClr val="F2ECE0"/>
                </a:solidFill>
                <a:latin typeface="Aptos Display"/>
              </a:rPr>
              <a:t>Resume</a:t>
            </a:r>
          </a:p>
        </p:txBody>
      </p:sp>
      <p:sp>
        <p:nvSpPr>
          <p:cNvPr id="33" name="TextBox 32"/>
          <p:cNvSpPr txBox="1"/>
          <p:nvPr/>
        </p:nvSpPr>
        <p:spPr>
          <a:xfrm>
            <a:off x="8412480"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34" name="Rounded Rectangle 33"/>
          <p:cNvSpPr/>
          <p:nvPr/>
        </p:nvSpPr>
        <p:spPr>
          <a:xfrm>
            <a:off x="85496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77656" y="3291840"/>
            <a:ext cx="1143000" cy="502920"/>
          </a:xfrm>
          <a:prstGeom prst="rect">
            <a:avLst/>
          </a:prstGeom>
          <a:noFill/>
        </p:spPr>
        <p:txBody>
          <a:bodyPr wrap="square" anchor="t">
            <a:spAutoFit/>
          </a:bodyPr>
          <a:lstStyle/>
          <a:p>
            <a:pPr algn="ctr"/>
            <a:r>
              <a:rPr sz="1800" b="1" i="0">
                <a:solidFill>
                  <a:srgbClr val="F2ECE0"/>
                </a:solidFill>
                <a:latin typeface="Aptos Display"/>
              </a:rPr>
              <a:t>Job Analysis</a:t>
            </a:r>
          </a:p>
        </p:txBody>
      </p:sp>
      <p:sp>
        <p:nvSpPr>
          <p:cNvPr id="36" name="TextBox 35"/>
          <p:cNvSpPr txBox="1"/>
          <p:nvPr/>
        </p:nvSpPr>
        <p:spPr>
          <a:xfrm>
            <a:off x="10012680" y="3493008"/>
            <a:ext cx="411480" cy="274320"/>
          </a:xfrm>
          <a:prstGeom prst="rect">
            <a:avLst/>
          </a:prstGeom>
          <a:noFill/>
        </p:spPr>
        <p:txBody>
          <a:bodyPr wrap="square" anchor="t">
            <a:spAutoFit/>
          </a:bodyPr>
          <a:lstStyle/>
          <a:p>
            <a:pPr algn="ctr"/>
            <a:r>
              <a:rPr sz="2200" b="1" i="0">
                <a:solidFill>
                  <a:srgbClr val="E0823A"/>
                </a:solidFill>
                <a:latin typeface="Aptos Display"/>
              </a:rPr>
              <a:t>→</a:t>
            </a:r>
          </a:p>
        </p:txBody>
      </p:sp>
      <p:sp>
        <p:nvSpPr>
          <p:cNvPr id="37" name="Rounded Rectangle 36"/>
          <p:cNvSpPr/>
          <p:nvPr/>
        </p:nvSpPr>
        <p:spPr>
          <a:xfrm>
            <a:off x="10149840" y="3108960"/>
            <a:ext cx="1417320" cy="11887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77856" y="3291840"/>
            <a:ext cx="1143000" cy="502920"/>
          </a:xfrm>
          <a:prstGeom prst="rect">
            <a:avLst/>
          </a:prstGeom>
          <a:noFill/>
        </p:spPr>
        <p:txBody>
          <a:bodyPr wrap="square" anchor="t">
            <a:spAutoFit/>
          </a:bodyPr>
          <a:lstStyle/>
          <a:p>
            <a:pPr algn="ctr"/>
            <a:r>
              <a:rPr sz="1800" b="1" i="0">
                <a:solidFill>
                  <a:srgbClr val="F2ECE0"/>
                </a:solidFill>
                <a:latin typeface="Aptos Display"/>
              </a:rPr>
              <a:t>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05  LEARNER JOURNEY</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Four stages. One destination.</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The learner moves through a simple progression: understand where to start, follow a path, build proof, then approach the market with evidence.</a:t>
            </a:r>
          </a:p>
        </p:txBody>
      </p:sp>
      <p:sp>
        <p:nvSpPr>
          <p:cNvPr id="19" name="Rounded Rectangle 18"/>
          <p:cNvSpPr/>
          <p:nvPr/>
        </p:nvSpPr>
        <p:spPr>
          <a:xfrm>
            <a:off x="548640" y="2788920"/>
            <a:ext cx="2331720" cy="237744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971800"/>
            <a:ext cx="457200" cy="274320"/>
          </a:xfrm>
          <a:prstGeom prst="rect">
            <a:avLst/>
          </a:prstGeom>
          <a:noFill/>
        </p:spPr>
        <p:txBody>
          <a:bodyPr wrap="square" anchor="t">
            <a:spAutoFit/>
          </a:bodyPr>
          <a:lstStyle/>
          <a:p>
            <a:pPr algn="l"/>
            <a:r>
              <a:rPr sz="1200" b="1" i="0">
                <a:solidFill>
                  <a:srgbClr val="E0823A"/>
                </a:solidFill>
                <a:latin typeface="Aptos Mono"/>
              </a:rPr>
              <a:t>01</a:t>
            </a:r>
          </a:p>
        </p:txBody>
      </p:sp>
      <p:sp>
        <p:nvSpPr>
          <p:cNvPr id="21" name="TextBox 20"/>
          <p:cNvSpPr txBox="1"/>
          <p:nvPr/>
        </p:nvSpPr>
        <p:spPr>
          <a:xfrm>
            <a:off x="713232" y="3310128"/>
            <a:ext cx="1828800" cy="411480"/>
          </a:xfrm>
          <a:prstGeom prst="rect">
            <a:avLst/>
          </a:prstGeom>
          <a:noFill/>
        </p:spPr>
        <p:txBody>
          <a:bodyPr wrap="square" anchor="t">
            <a:spAutoFit/>
          </a:bodyPr>
          <a:lstStyle/>
          <a:p>
            <a:pPr algn="l"/>
            <a:r>
              <a:rPr sz="2000" b="1" i="0">
                <a:solidFill>
                  <a:srgbClr val="F2ECE0"/>
                </a:solidFill>
                <a:latin typeface="Aptos Display"/>
              </a:rPr>
              <a:t>Assessment</a:t>
            </a:r>
          </a:p>
        </p:txBody>
      </p:sp>
      <p:sp>
        <p:nvSpPr>
          <p:cNvPr id="22" name="TextBox 21"/>
          <p:cNvSpPr txBox="1"/>
          <p:nvPr/>
        </p:nvSpPr>
        <p:spPr>
          <a:xfrm>
            <a:off x="713232" y="3840480"/>
            <a:ext cx="1920240" cy="868680"/>
          </a:xfrm>
          <a:prstGeom prst="rect">
            <a:avLst/>
          </a:prstGeom>
          <a:noFill/>
        </p:spPr>
        <p:txBody>
          <a:bodyPr wrap="square" anchor="t">
            <a:spAutoFit/>
          </a:bodyPr>
          <a:lstStyle/>
          <a:p>
            <a:pPr algn="l"/>
            <a:r>
              <a:rPr sz="1300" b="0" i="0">
                <a:solidFill>
                  <a:srgbClr val="B0AA9E"/>
                </a:solidFill>
                <a:latin typeface="Aptos"/>
              </a:rPr>
              <a:t>Profile, goals, time, confidence</a:t>
            </a:r>
          </a:p>
        </p:txBody>
      </p:sp>
      <p:sp>
        <p:nvSpPr>
          <p:cNvPr id="23" name="Rounded Rectangle 22"/>
          <p:cNvSpPr/>
          <p:nvPr/>
        </p:nvSpPr>
        <p:spPr>
          <a:xfrm>
            <a:off x="3291840" y="2788920"/>
            <a:ext cx="2331720" cy="237744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56432" y="2971800"/>
            <a:ext cx="457200" cy="274320"/>
          </a:xfrm>
          <a:prstGeom prst="rect">
            <a:avLst/>
          </a:prstGeom>
          <a:noFill/>
        </p:spPr>
        <p:txBody>
          <a:bodyPr wrap="square" anchor="t">
            <a:spAutoFit/>
          </a:bodyPr>
          <a:lstStyle/>
          <a:p>
            <a:pPr algn="l"/>
            <a:r>
              <a:rPr sz="1200" b="1" i="0">
                <a:solidFill>
                  <a:srgbClr val="E0823A"/>
                </a:solidFill>
                <a:latin typeface="Aptos Mono"/>
              </a:rPr>
              <a:t>02</a:t>
            </a:r>
          </a:p>
        </p:txBody>
      </p:sp>
      <p:sp>
        <p:nvSpPr>
          <p:cNvPr id="25" name="TextBox 24"/>
          <p:cNvSpPr txBox="1"/>
          <p:nvPr/>
        </p:nvSpPr>
        <p:spPr>
          <a:xfrm>
            <a:off x="3456432" y="3310128"/>
            <a:ext cx="1828800" cy="411480"/>
          </a:xfrm>
          <a:prstGeom prst="rect">
            <a:avLst/>
          </a:prstGeom>
          <a:noFill/>
        </p:spPr>
        <p:txBody>
          <a:bodyPr wrap="square" anchor="t">
            <a:spAutoFit/>
          </a:bodyPr>
          <a:lstStyle/>
          <a:p>
            <a:pPr algn="l"/>
            <a:r>
              <a:rPr sz="2000" b="1" i="0">
                <a:solidFill>
                  <a:srgbClr val="F2ECE0"/>
                </a:solidFill>
                <a:latin typeface="Aptos Display"/>
              </a:rPr>
              <a:t>Pathing</a:t>
            </a:r>
          </a:p>
        </p:txBody>
      </p:sp>
      <p:sp>
        <p:nvSpPr>
          <p:cNvPr id="26" name="TextBox 25"/>
          <p:cNvSpPr txBox="1"/>
          <p:nvPr/>
        </p:nvSpPr>
        <p:spPr>
          <a:xfrm>
            <a:off x="3456432" y="3840480"/>
            <a:ext cx="1920240" cy="868680"/>
          </a:xfrm>
          <a:prstGeom prst="rect">
            <a:avLst/>
          </a:prstGeom>
          <a:noFill/>
        </p:spPr>
        <p:txBody>
          <a:bodyPr wrap="square" anchor="t">
            <a:spAutoFit/>
          </a:bodyPr>
          <a:lstStyle/>
          <a:p>
            <a:pPr algn="l"/>
            <a:r>
              <a:rPr sz="1300" b="0" i="0">
                <a:solidFill>
                  <a:srgbClr val="B0AA9E"/>
                </a:solidFill>
                <a:latin typeface="Aptos"/>
              </a:rPr>
              <a:t>One of four structured technical tracks</a:t>
            </a:r>
          </a:p>
        </p:txBody>
      </p:sp>
      <p:sp>
        <p:nvSpPr>
          <p:cNvPr id="27" name="Rounded Rectangle 26"/>
          <p:cNvSpPr/>
          <p:nvPr/>
        </p:nvSpPr>
        <p:spPr>
          <a:xfrm>
            <a:off x="6035040" y="2788920"/>
            <a:ext cx="2331720" cy="237744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1" y="2971800"/>
            <a:ext cx="457200" cy="274320"/>
          </a:xfrm>
          <a:prstGeom prst="rect">
            <a:avLst/>
          </a:prstGeom>
          <a:noFill/>
        </p:spPr>
        <p:txBody>
          <a:bodyPr wrap="square" anchor="t">
            <a:spAutoFit/>
          </a:bodyPr>
          <a:lstStyle/>
          <a:p>
            <a:pPr algn="l"/>
            <a:r>
              <a:rPr sz="1200" b="1" i="0">
                <a:solidFill>
                  <a:srgbClr val="E0823A"/>
                </a:solidFill>
                <a:latin typeface="Aptos Mono"/>
              </a:rPr>
              <a:t>03</a:t>
            </a:r>
          </a:p>
        </p:txBody>
      </p:sp>
      <p:sp>
        <p:nvSpPr>
          <p:cNvPr id="29" name="TextBox 28"/>
          <p:cNvSpPr txBox="1"/>
          <p:nvPr/>
        </p:nvSpPr>
        <p:spPr>
          <a:xfrm>
            <a:off x="6199631" y="3310128"/>
            <a:ext cx="1828800" cy="411480"/>
          </a:xfrm>
          <a:prstGeom prst="rect">
            <a:avLst/>
          </a:prstGeom>
          <a:noFill/>
        </p:spPr>
        <p:txBody>
          <a:bodyPr wrap="square" anchor="t">
            <a:spAutoFit/>
          </a:bodyPr>
          <a:lstStyle/>
          <a:p>
            <a:pPr algn="l"/>
            <a:r>
              <a:rPr sz="2000" b="1" i="0">
                <a:solidFill>
                  <a:srgbClr val="F2ECE0"/>
                </a:solidFill>
                <a:latin typeface="Aptos Display"/>
              </a:rPr>
              <a:t>Execution</a:t>
            </a:r>
          </a:p>
        </p:txBody>
      </p:sp>
      <p:sp>
        <p:nvSpPr>
          <p:cNvPr id="30" name="TextBox 29"/>
          <p:cNvSpPr txBox="1"/>
          <p:nvPr/>
        </p:nvSpPr>
        <p:spPr>
          <a:xfrm>
            <a:off x="6199631" y="3840480"/>
            <a:ext cx="1920240" cy="868680"/>
          </a:xfrm>
          <a:prstGeom prst="rect">
            <a:avLst/>
          </a:prstGeom>
          <a:noFill/>
        </p:spPr>
        <p:txBody>
          <a:bodyPr wrap="square" anchor="t">
            <a:spAutoFit/>
          </a:bodyPr>
          <a:lstStyle/>
          <a:p>
            <a:pPr algn="l"/>
            <a:r>
              <a:rPr sz="1300" b="0" i="0">
                <a:solidFill>
                  <a:srgbClr val="B0AA9E"/>
                </a:solidFill>
                <a:latin typeface="Aptos"/>
              </a:rPr>
              <a:t>Topics, milestones, portfolio, resume</a:t>
            </a:r>
          </a:p>
        </p:txBody>
      </p:sp>
      <p:sp>
        <p:nvSpPr>
          <p:cNvPr id="31" name="Rounded Rectangle 30"/>
          <p:cNvSpPr/>
          <p:nvPr/>
        </p:nvSpPr>
        <p:spPr>
          <a:xfrm>
            <a:off x="8778240" y="2788920"/>
            <a:ext cx="2331720" cy="237744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2971800"/>
            <a:ext cx="457200" cy="274320"/>
          </a:xfrm>
          <a:prstGeom prst="rect">
            <a:avLst/>
          </a:prstGeom>
          <a:noFill/>
        </p:spPr>
        <p:txBody>
          <a:bodyPr wrap="square" anchor="t">
            <a:spAutoFit/>
          </a:bodyPr>
          <a:lstStyle/>
          <a:p>
            <a:pPr algn="l"/>
            <a:r>
              <a:rPr sz="1200" b="1" i="0">
                <a:solidFill>
                  <a:srgbClr val="E0823A"/>
                </a:solidFill>
                <a:latin typeface="Aptos Mono"/>
              </a:rPr>
              <a:t>04</a:t>
            </a:r>
          </a:p>
        </p:txBody>
      </p:sp>
      <p:sp>
        <p:nvSpPr>
          <p:cNvPr id="33" name="TextBox 32"/>
          <p:cNvSpPr txBox="1"/>
          <p:nvPr/>
        </p:nvSpPr>
        <p:spPr>
          <a:xfrm>
            <a:off x="8942832" y="3310128"/>
            <a:ext cx="1828800" cy="411480"/>
          </a:xfrm>
          <a:prstGeom prst="rect">
            <a:avLst/>
          </a:prstGeom>
          <a:noFill/>
        </p:spPr>
        <p:txBody>
          <a:bodyPr wrap="square" anchor="t">
            <a:spAutoFit/>
          </a:bodyPr>
          <a:lstStyle/>
          <a:p>
            <a:pPr algn="l"/>
            <a:r>
              <a:rPr sz="2000" b="1" i="0">
                <a:solidFill>
                  <a:srgbClr val="F2ECE0"/>
                </a:solidFill>
                <a:latin typeface="Aptos Display"/>
              </a:rPr>
              <a:t>Readiness</a:t>
            </a:r>
          </a:p>
        </p:txBody>
      </p:sp>
      <p:sp>
        <p:nvSpPr>
          <p:cNvPr id="34" name="TextBox 33"/>
          <p:cNvSpPr txBox="1"/>
          <p:nvPr/>
        </p:nvSpPr>
        <p:spPr>
          <a:xfrm>
            <a:off x="8942832" y="3840480"/>
            <a:ext cx="1920240" cy="868680"/>
          </a:xfrm>
          <a:prstGeom prst="rect">
            <a:avLst/>
          </a:prstGeom>
          <a:noFill/>
        </p:spPr>
        <p:txBody>
          <a:bodyPr wrap="square" anchor="t">
            <a:spAutoFit/>
          </a:bodyPr>
          <a:lstStyle/>
          <a:p>
            <a:pPr algn="l"/>
            <a:r>
              <a:rPr sz="1300" b="0" i="0">
                <a:solidFill>
                  <a:srgbClr val="B0AA9E"/>
                </a:solidFill>
                <a:latin typeface="Aptos"/>
              </a:rPr>
              <a:t>Opportunity analysis and application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06  PLATFORM OVERVIEW</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A working system, not a feature list.</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These modules are already designed to reinforce each other instead of living as isolated tools.</a:t>
            </a:r>
          </a:p>
        </p:txBody>
      </p:sp>
      <p:sp>
        <p:nvSpPr>
          <p:cNvPr id="19" name="Rounded Rectangle 18"/>
          <p:cNvSpPr/>
          <p:nvPr/>
        </p:nvSpPr>
        <p:spPr>
          <a:xfrm>
            <a:off x="548640" y="260604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80720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1" name="TextBox 20"/>
          <p:cNvSpPr txBox="1"/>
          <p:nvPr/>
        </p:nvSpPr>
        <p:spPr>
          <a:xfrm>
            <a:off x="749808" y="3246120"/>
            <a:ext cx="2980944" cy="731520"/>
          </a:xfrm>
          <a:prstGeom prst="rect">
            <a:avLst/>
          </a:prstGeom>
          <a:noFill/>
        </p:spPr>
        <p:txBody>
          <a:bodyPr wrap="square" anchor="t">
            <a:spAutoFit/>
          </a:bodyPr>
          <a:lstStyle/>
          <a:p>
            <a:pPr algn="l"/>
            <a:r>
              <a:rPr sz="1800" b="1" i="0">
                <a:solidFill>
                  <a:srgbClr val="F2ECE0"/>
                </a:solidFill>
                <a:latin typeface="Aptos Display"/>
              </a:rPr>
              <a:t>Dashboard / command center</a:t>
            </a:r>
          </a:p>
        </p:txBody>
      </p:sp>
      <p:sp>
        <p:nvSpPr>
          <p:cNvPr id="22" name="TextBox 21"/>
          <p:cNvSpPr txBox="1"/>
          <p:nvPr/>
        </p:nvSpPr>
        <p:spPr>
          <a:xfrm>
            <a:off x="749808" y="377647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3" name="Rounded Rectangle 22"/>
          <p:cNvSpPr/>
          <p:nvPr/>
        </p:nvSpPr>
        <p:spPr>
          <a:xfrm>
            <a:off x="4160520" y="260604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61688" y="280720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5" name="TextBox 24"/>
          <p:cNvSpPr txBox="1"/>
          <p:nvPr/>
        </p:nvSpPr>
        <p:spPr>
          <a:xfrm>
            <a:off x="4361688" y="3246120"/>
            <a:ext cx="2980944" cy="731520"/>
          </a:xfrm>
          <a:prstGeom prst="rect">
            <a:avLst/>
          </a:prstGeom>
          <a:noFill/>
        </p:spPr>
        <p:txBody>
          <a:bodyPr wrap="square" anchor="t">
            <a:spAutoFit/>
          </a:bodyPr>
          <a:lstStyle/>
          <a:p>
            <a:pPr algn="l"/>
            <a:r>
              <a:rPr sz="1800" b="1" i="0">
                <a:solidFill>
                  <a:srgbClr val="F2ECE0"/>
                </a:solidFill>
                <a:latin typeface="Aptos Display"/>
              </a:rPr>
              <a:t>Roadmap / topic viewer</a:t>
            </a:r>
          </a:p>
        </p:txBody>
      </p:sp>
      <p:sp>
        <p:nvSpPr>
          <p:cNvPr id="26" name="TextBox 25"/>
          <p:cNvSpPr txBox="1"/>
          <p:nvPr/>
        </p:nvSpPr>
        <p:spPr>
          <a:xfrm>
            <a:off x="4361688" y="377647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7" name="Rounded Rectangle 26"/>
          <p:cNvSpPr/>
          <p:nvPr/>
        </p:nvSpPr>
        <p:spPr>
          <a:xfrm>
            <a:off x="7772400" y="260604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73568" y="280720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9" name="TextBox 28"/>
          <p:cNvSpPr txBox="1"/>
          <p:nvPr/>
        </p:nvSpPr>
        <p:spPr>
          <a:xfrm>
            <a:off x="7973568" y="3246120"/>
            <a:ext cx="2980944" cy="731520"/>
          </a:xfrm>
          <a:prstGeom prst="rect">
            <a:avLst/>
          </a:prstGeom>
          <a:noFill/>
        </p:spPr>
        <p:txBody>
          <a:bodyPr wrap="square" anchor="t">
            <a:spAutoFit/>
          </a:bodyPr>
          <a:lstStyle/>
          <a:p>
            <a:pPr algn="l"/>
            <a:r>
              <a:rPr sz="1800" b="1" i="0">
                <a:solidFill>
                  <a:srgbClr val="F2ECE0"/>
                </a:solidFill>
                <a:latin typeface="Aptos Display"/>
              </a:rPr>
              <a:t>Portfolio / project proof</a:t>
            </a:r>
          </a:p>
        </p:txBody>
      </p:sp>
      <p:sp>
        <p:nvSpPr>
          <p:cNvPr id="30" name="TextBox 29"/>
          <p:cNvSpPr txBox="1"/>
          <p:nvPr/>
        </p:nvSpPr>
        <p:spPr>
          <a:xfrm>
            <a:off x="7973568" y="377647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31" name="Rounded Rectangle 30"/>
          <p:cNvSpPr/>
          <p:nvPr/>
        </p:nvSpPr>
        <p:spPr>
          <a:xfrm>
            <a:off x="548640" y="416052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36168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33" name="TextBox 32"/>
          <p:cNvSpPr txBox="1"/>
          <p:nvPr/>
        </p:nvSpPr>
        <p:spPr>
          <a:xfrm>
            <a:off x="749808" y="4800600"/>
            <a:ext cx="2980944" cy="731520"/>
          </a:xfrm>
          <a:prstGeom prst="rect">
            <a:avLst/>
          </a:prstGeom>
          <a:noFill/>
        </p:spPr>
        <p:txBody>
          <a:bodyPr wrap="square" anchor="t">
            <a:spAutoFit/>
          </a:bodyPr>
          <a:lstStyle/>
          <a:p>
            <a:pPr algn="l"/>
            <a:r>
              <a:rPr sz="1800" b="1" i="0">
                <a:solidFill>
                  <a:srgbClr val="F2ECE0"/>
                </a:solidFill>
                <a:latin typeface="Aptos Display"/>
              </a:rPr>
              <a:t>Resume builder</a:t>
            </a:r>
          </a:p>
        </p:txBody>
      </p:sp>
      <p:sp>
        <p:nvSpPr>
          <p:cNvPr id="34" name="TextBox 33"/>
          <p:cNvSpPr txBox="1"/>
          <p:nvPr/>
        </p:nvSpPr>
        <p:spPr>
          <a:xfrm>
            <a:off x="749808" y="533095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35" name="Rounded Rectangle 34"/>
          <p:cNvSpPr/>
          <p:nvPr/>
        </p:nvSpPr>
        <p:spPr>
          <a:xfrm>
            <a:off x="4160520" y="416052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436168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37" name="TextBox 36"/>
          <p:cNvSpPr txBox="1"/>
          <p:nvPr/>
        </p:nvSpPr>
        <p:spPr>
          <a:xfrm>
            <a:off x="4361688" y="4800600"/>
            <a:ext cx="2980944" cy="731520"/>
          </a:xfrm>
          <a:prstGeom prst="rect">
            <a:avLst/>
          </a:prstGeom>
          <a:noFill/>
        </p:spPr>
        <p:txBody>
          <a:bodyPr wrap="square" anchor="t">
            <a:spAutoFit/>
          </a:bodyPr>
          <a:lstStyle/>
          <a:p>
            <a:pPr algn="l"/>
            <a:r>
              <a:rPr sz="1800" b="1" i="0">
                <a:solidFill>
                  <a:srgbClr val="F2ECE0"/>
                </a:solidFill>
                <a:latin typeface="Aptos Display"/>
              </a:rPr>
              <a:t>Opportunity analyzer</a:t>
            </a:r>
          </a:p>
        </p:txBody>
      </p:sp>
      <p:sp>
        <p:nvSpPr>
          <p:cNvPr id="38" name="TextBox 37"/>
          <p:cNvSpPr txBox="1"/>
          <p:nvPr/>
        </p:nvSpPr>
        <p:spPr>
          <a:xfrm>
            <a:off x="4361688" y="533095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39" name="Rounded Rectangle 38"/>
          <p:cNvSpPr/>
          <p:nvPr/>
        </p:nvSpPr>
        <p:spPr>
          <a:xfrm>
            <a:off x="7772400" y="4160520"/>
            <a:ext cx="3383280" cy="14173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3568" y="4361688"/>
            <a:ext cx="2980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41" name="TextBox 40"/>
          <p:cNvSpPr txBox="1"/>
          <p:nvPr/>
        </p:nvSpPr>
        <p:spPr>
          <a:xfrm>
            <a:off x="7973568" y="4800600"/>
            <a:ext cx="2980944" cy="731520"/>
          </a:xfrm>
          <a:prstGeom prst="rect">
            <a:avLst/>
          </a:prstGeom>
          <a:noFill/>
        </p:spPr>
        <p:txBody>
          <a:bodyPr wrap="square" anchor="t">
            <a:spAutoFit/>
          </a:bodyPr>
          <a:lstStyle/>
          <a:p>
            <a:pPr algn="l"/>
            <a:r>
              <a:rPr sz="1800" b="1" i="0">
                <a:solidFill>
                  <a:srgbClr val="F2ECE0"/>
                </a:solidFill>
                <a:latin typeface="Aptos Display"/>
              </a:rPr>
              <a:t>Application tracker</a:t>
            </a:r>
          </a:p>
        </p:txBody>
      </p:sp>
      <p:sp>
        <p:nvSpPr>
          <p:cNvPr id="42" name="TextBox 41"/>
          <p:cNvSpPr txBox="1"/>
          <p:nvPr/>
        </p:nvSpPr>
        <p:spPr>
          <a:xfrm>
            <a:off x="7973568" y="5330952"/>
            <a:ext cx="2980944" cy="457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07  DEEP DIVE 1</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The roadmap is the engine.</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Mallah organizes each path into stages and topics, tracks progress, and uses project milestones to turn passive study into visible advancement.</a:t>
            </a:r>
          </a:p>
        </p:txBody>
      </p:sp>
      <p:sp>
        <p:nvSpPr>
          <p:cNvPr id="19" name="Rounded Rectangle 18"/>
          <p:cNvSpPr/>
          <p:nvPr/>
        </p:nvSpPr>
        <p:spPr>
          <a:xfrm>
            <a:off x="6080760" y="1188720"/>
            <a:ext cx="4663440" cy="42976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1389888"/>
            <a:ext cx="426110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1" name="TextBox 20"/>
          <p:cNvSpPr txBox="1"/>
          <p:nvPr/>
        </p:nvSpPr>
        <p:spPr>
          <a:xfrm>
            <a:off x="6281928" y="1828800"/>
            <a:ext cx="4261104" cy="731520"/>
          </a:xfrm>
          <a:prstGeom prst="rect">
            <a:avLst/>
          </a:prstGeom>
          <a:noFill/>
        </p:spPr>
        <p:txBody>
          <a:bodyPr wrap="square" anchor="t">
            <a:spAutoFit/>
          </a:bodyPr>
          <a:lstStyle/>
          <a:p>
            <a:pPr algn="l"/>
            <a:r>
              <a:rPr sz="1800" b="1" i="0">
                <a:solidFill>
                  <a:srgbClr val="F2ECE0"/>
                </a:solidFill>
                <a:latin typeface="Aptos Display"/>
              </a:rPr>
              <a:t>Roadmap / Topic Viewer</a:t>
            </a:r>
          </a:p>
        </p:txBody>
      </p:sp>
      <p:sp>
        <p:nvSpPr>
          <p:cNvPr id="22" name="TextBox 21"/>
          <p:cNvSpPr txBox="1"/>
          <p:nvPr/>
        </p:nvSpPr>
        <p:spPr>
          <a:xfrm>
            <a:off x="6281928" y="2359152"/>
            <a:ext cx="4261104" cy="292608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3" name="TextBox 22"/>
          <p:cNvSpPr txBox="1"/>
          <p:nvPr/>
        </p:nvSpPr>
        <p:spPr>
          <a:xfrm>
            <a:off x="685800" y="2834640"/>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24" name="TextBox 23"/>
          <p:cNvSpPr txBox="1"/>
          <p:nvPr/>
        </p:nvSpPr>
        <p:spPr>
          <a:xfrm>
            <a:off x="960120" y="2816352"/>
            <a:ext cx="4663440" cy="320040"/>
          </a:xfrm>
          <a:prstGeom prst="rect">
            <a:avLst/>
          </a:prstGeom>
          <a:noFill/>
        </p:spPr>
        <p:txBody>
          <a:bodyPr wrap="square" anchor="t">
            <a:spAutoFit/>
          </a:bodyPr>
          <a:lstStyle/>
          <a:p>
            <a:pPr algn="l"/>
            <a:r>
              <a:rPr sz="1600" b="0" i="0">
                <a:solidFill>
                  <a:srgbClr val="F2ECE0"/>
                </a:solidFill>
                <a:latin typeface="Aptos"/>
              </a:rPr>
              <a:t>4 predefined technical paths</a:t>
            </a:r>
          </a:p>
        </p:txBody>
      </p:sp>
      <p:sp>
        <p:nvSpPr>
          <p:cNvPr id="25" name="TextBox 24"/>
          <p:cNvSpPr txBox="1"/>
          <p:nvPr/>
        </p:nvSpPr>
        <p:spPr>
          <a:xfrm>
            <a:off x="685800" y="3474720"/>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26" name="TextBox 25"/>
          <p:cNvSpPr txBox="1"/>
          <p:nvPr/>
        </p:nvSpPr>
        <p:spPr>
          <a:xfrm>
            <a:off x="960120" y="3456432"/>
            <a:ext cx="4663440" cy="320040"/>
          </a:xfrm>
          <a:prstGeom prst="rect">
            <a:avLst/>
          </a:prstGeom>
          <a:noFill/>
        </p:spPr>
        <p:txBody>
          <a:bodyPr wrap="square" anchor="t">
            <a:spAutoFit/>
          </a:bodyPr>
          <a:lstStyle/>
          <a:p>
            <a:pPr algn="l"/>
            <a:r>
              <a:rPr sz="1600" b="0" i="0">
                <a:solidFill>
                  <a:srgbClr val="F2ECE0"/>
                </a:solidFill>
                <a:latin typeface="Aptos"/>
              </a:rPr>
              <a:t>Path -&gt; Stage -&gt; Topic structure</a:t>
            </a:r>
          </a:p>
        </p:txBody>
      </p:sp>
      <p:sp>
        <p:nvSpPr>
          <p:cNvPr id="27" name="TextBox 26"/>
          <p:cNvSpPr txBox="1"/>
          <p:nvPr/>
        </p:nvSpPr>
        <p:spPr>
          <a:xfrm>
            <a:off x="685800" y="4114800"/>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28" name="TextBox 27"/>
          <p:cNvSpPr txBox="1"/>
          <p:nvPr/>
        </p:nvSpPr>
        <p:spPr>
          <a:xfrm>
            <a:off x="960120" y="4096512"/>
            <a:ext cx="4663440" cy="320040"/>
          </a:xfrm>
          <a:prstGeom prst="rect">
            <a:avLst/>
          </a:prstGeom>
          <a:noFill/>
        </p:spPr>
        <p:txBody>
          <a:bodyPr wrap="square" anchor="t">
            <a:spAutoFit/>
          </a:bodyPr>
          <a:lstStyle/>
          <a:p>
            <a:pPr algn="l"/>
            <a:r>
              <a:rPr sz="1600" b="0" i="0">
                <a:solidFill>
                  <a:srgbClr val="F2ECE0"/>
                </a:solidFill>
                <a:latin typeface="Aptos"/>
              </a:rPr>
              <a:t>Project-gated stage progression</a:t>
            </a:r>
          </a:p>
        </p:txBody>
      </p:sp>
      <p:sp>
        <p:nvSpPr>
          <p:cNvPr id="29" name="TextBox 28"/>
          <p:cNvSpPr txBox="1"/>
          <p:nvPr/>
        </p:nvSpPr>
        <p:spPr>
          <a:xfrm>
            <a:off x="685800" y="4754879"/>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0" name="TextBox 29"/>
          <p:cNvSpPr txBox="1"/>
          <p:nvPr/>
        </p:nvSpPr>
        <p:spPr>
          <a:xfrm>
            <a:off x="960120" y="4736592"/>
            <a:ext cx="4663440" cy="320040"/>
          </a:xfrm>
          <a:prstGeom prst="rect">
            <a:avLst/>
          </a:prstGeom>
          <a:noFill/>
        </p:spPr>
        <p:txBody>
          <a:bodyPr wrap="square" anchor="t">
            <a:spAutoFit/>
          </a:bodyPr>
          <a:lstStyle/>
          <a:p>
            <a:pPr algn="l"/>
            <a:r>
              <a:rPr sz="1600" b="0" i="0">
                <a:solidFill>
                  <a:srgbClr val="F2ECE0"/>
                </a:solidFill>
                <a:latin typeface="Aptos"/>
              </a:rPr>
              <a:t>Topic-level progress and AI lesson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08  DEEP DIVE 2</a:t>
            </a:r>
          </a:p>
        </p:txBody>
      </p:sp>
      <p:sp>
        <p:nvSpPr>
          <p:cNvPr id="17" name="TextBox 16"/>
          <p:cNvSpPr txBox="1"/>
          <p:nvPr/>
        </p:nvSpPr>
        <p:spPr>
          <a:xfrm>
            <a:off x="502920" y="841248"/>
            <a:ext cx="5577840" cy="1371600"/>
          </a:xfrm>
          <a:prstGeom prst="rect">
            <a:avLst/>
          </a:prstGeom>
          <a:noFill/>
        </p:spPr>
        <p:txBody>
          <a:bodyPr wrap="square" anchor="t">
            <a:spAutoFit/>
          </a:bodyPr>
          <a:lstStyle/>
          <a:p>
            <a:pPr algn="l"/>
            <a:r>
              <a:rPr sz="2800" b="1" i="0">
                <a:solidFill>
                  <a:srgbClr val="F2ECE0"/>
                </a:solidFill>
                <a:latin typeface="Aptos Display"/>
              </a:rPr>
              <a:t>Learning becomes recruiter-visible proof.</a:t>
            </a:r>
          </a:p>
        </p:txBody>
      </p:sp>
      <p:sp>
        <p:nvSpPr>
          <p:cNvPr id="18" name="TextBox 17"/>
          <p:cNvSpPr txBox="1"/>
          <p:nvPr/>
        </p:nvSpPr>
        <p:spPr>
          <a:xfrm>
            <a:off x="530352" y="1801368"/>
            <a:ext cx="5486400" cy="914400"/>
          </a:xfrm>
          <a:prstGeom prst="rect">
            <a:avLst/>
          </a:prstGeom>
          <a:noFill/>
        </p:spPr>
        <p:txBody>
          <a:bodyPr wrap="square" anchor="t">
            <a:spAutoFit/>
          </a:bodyPr>
          <a:lstStyle/>
          <a:p>
            <a:pPr algn="l"/>
            <a:r>
              <a:rPr sz="1600" b="0" i="0">
                <a:solidFill>
                  <a:srgbClr val="B0AA9E"/>
                </a:solidFill>
                <a:latin typeface="Aptos"/>
              </a:rPr>
              <a:t>Portfolio Hub and Resume Builder turn completed work into evidence that can be shown, shared, and tailored for opportunities.</a:t>
            </a:r>
          </a:p>
        </p:txBody>
      </p:sp>
      <p:sp>
        <p:nvSpPr>
          <p:cNvPr id="19" name="Rounded Rectangle 18"/>
          <p:cNvSpPr/>
          <p:nvPr/>
        </p:nvSpPr>
        <p:spPr>
          <a:xfrm>
            <a:off x="6400800" y="1325880"/>
            <a:ext cx="2240280" cy="43891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1527048"/>
            <a:ext cx="1837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1" name="TextBox 20"/>
          <p:cNvSpPr txBox="1"/>
          <p:nvPr/>
        </p:nvSpPr>
        <p:spPr>
          <a:xfrm>
            <a:off x="6601968" y="1965960"/>
            <a:ext cx="1837944" cy="731520"/>
          </a:xfrm>
          <a:prstGeom prst="rect">
            <a:avLst/>
          </a:prstGeom>
          <a:noFill/>
        </p:spPr>
        <p:txBody>
          <a:bodyPr wrap="square" anchor="t">
            <a:spAutoFit/>
          </a:bodyPr>
          <a:lstStyle/>
          <a:p>
            <a:pPr algn="l"/>
            <a:r>
              <a:rPr sz="1800" b="1" i="0">
                <a:solidFill>
                  <a:srgbClr val="F2ECE0"/>
                </a:solidFill>
                <a:latin typeface="Aptos Display"/>
              </a:rPr>
              <a:t>Portfolio / project evidence</a:t>
            </a:r>
          </a:p>
        </p:txBody>
      </p:sp>
      <p:sp>
        <p:nvSpPr>
          <p:cNvPr id="22" name="TextBox 21"/>
          <p:cNvSpPr txBox="1"/>
          <p:nvPr/>
        </p:nvSpPr>
        <p:spPr>
          <a:xfrm>
            <a:off x="6601968" y="2496312"/>
            <a:ext cx="1837944" cy="30175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3" name="Rounded Rectangle 22"/>
          <p:cNvSpPr/>
          <p:nvPr/>
        </p:nvSpPr>
        <p:spPr>
          <a:xfrm>
            <a:off x="8823960" y="1325880"/>
            <a:ext cx="2240280" cy="43891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25128" y="1527048"/>
            <a:ext cx="1837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5" name="TextBox 24"/>
          <p:cNvSpPr txBox="1"/>
          <p:nvPr/>
        </p:nvSpPr>
        <p:spPr>
          <a:xfrm>
            <a:off x="9025128" y="1965960"/>
            <a:ext cx="1837944" cy="731520"/>
          </a:xfrm>
          <a:prstGeom prst="rect">
            <a:avLst/>
          </a:prstGeom>
          <a:noFill/>
        </p:spPr>
        <p:txBody>
          <a:bodyPr wrap="square" anchor="t">
            <a:spAutoFit/>
          </a:bodyPr>
          <a:lstStyle/>
          <a:p>
            <a:pPr algn="l"/>
            <a:r>
              <a:rPr sz="1800" b="1" i="0">
                <a:solidFill>
                  <a:srgbClr val="F2ECE0"/>
                </a:solidFill>
                <a:latin typeface="Aptos Display"/>
              </a:rPr>
              <a:t>Resume builder editor</a:t>
            </a:r>
          </a:p>
        </p:txBody>
      </p:sp>
      <p:sp>
        <p:nvSpPr>
          <p:cNvPr id="26" name="TextBox 25"/>
          <p:cNvSpPr txBox="1"/>
          <p:nvPr/>
        </p:nvSpPr>
        <p:spPr>
          <a:xfrm>
            <a:off x="9025128" y="2496312"/>
            <a:ext cx="1837944" cy="30175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7" name="TextBox 26"/>
          <p:cNvSpPr txBox="1"/>
          <p:nvPr/>
        </p:nvSpPr>
        <p:spPr>
          <a:xfrm>
            <a:off x="685800" y="2743200"/>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28" name="TextBox 27"/>
          <p:cNvSpPr txBox="1"/>
          <p:nvPr/>
        </p:nvSpPr>
        <p:spPr>
          <a:xfrm>
            <a:off x="960120" y="2724912"/>
            <a:ext cx="5166360" cy="365760"/>
          </a:xfrm>
          <a:prstGeom prst="rect">
            <a:avLst/>
          </a:prstGeom>
          <a:noFill/>
        </p:spPr>
        <p:txBody>
          <a:bodyPr wrap="square" anchor="t">
            <a:spAutoFit/>
          </a:bodyPr>
          <a:lstStyle/>
          <a:p>
            <a:pPr algn="l"/>
            <a:r>
              <a:rPr sz="1500" b="0" i="0">
                <a:solidFill>
                  <a:srgbClr val="F2ECE0"/>
                </a:solidFill>
                <a:latin typeface="Aptos"/>
              </a:rPr>
              <a:t>Verified skills unlocked from roadmap and projects</a:t>
            </a:r>
          </a:p>
        </p:txBody>
      </p:sp>
      <p:sp>
        <p:nvSpPr>
          <p:cNvPr id="29" name="TextBox 28"/>
          <p:cNvSpPr txBox="1"/>
          <p:nvPr/>
        </p:nvSpPr>
        <p:spPr>
          <a:xfrm>
            <a:off x="685800" y="3401568"/>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0" name="TextBox 29"/>
          <p:cNvSpPr txBox="1"/>
          <p:nvPr/>
        </p:nvSpPr>
        <p:spPr>
          <a:xfrm>
            <a:off x="960120" y="3383279"/>
            <a:ext cx="5166360" cy="365760"/>
          </a:xfrm>
          <a:prstGeom prst="rect">
            <a:avLst/>
          </a:prstGeom>
          <a:noFill/>
        </p:spPr>
        <p:txBody>
          <a:bodyPr wrap="square" anchor="t">
            <a:spAutoFit/>
          </a:bodyPr>
          <a:lstStyle/>
          <a:p>
            <a:pPr algn="l"/>
            <a:r>
              <a:rPr sz="1500" b="0" i="0">
                <a:solidFill>
                  <a:srgbClr val="F2ECE0"/>
                </a:solidFill>
                <a:latin typeface="Aptos"/>
              </a:rPr>
              <a:t>Project records with public visibility controls</a:t>
            </a:r>
          </a:p>
        </p:txBody>
      </p:sp>
      <p:sp>
        <p:nvSpPr>
          <p:cNvPr id="31" name="TextBox 30"/>
          <p:cNvSpPr txBox="1"/>
          <p:nvPr/>
        </p:nvSpPr>
        <p:spPr>
          <a:xfrm>
            <a:off x="685800" y="4059935"/>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2" name="TextBox 31"/>
          <p:cNvSpPr txBox="1"/>
          <p:nvPr/>
        </p:nvSpPr>
        <p:spPr>
          <a:xfrm>
            <a:off x="960120" y="4041648"/>
            <a:ext cx="5166360" cy="365760"/>
          </a:xfrm>
          <a:prstGeom prst="rect">
            <a:avLst/>
          </a:prstGeom>
          <a:noFill/>
        </p:spPr>
        <p:txBody>
          <a:bodyPr wrap="square" anchor="t">
            <a:spAutoFit/>
          </a:bodyPr>
          <a:lstStyle/>
          <a:p>
            <a:pPr algn="l"/>
            <a:r>
              <a:rPr sz="1500" b="0" i="0">
                <a:solidFill>
                  <a:srgbClr val="F2ECE0"/>
                </a:solidFill>
                <a:latin typeface="Aptos"/>
              </a:rPr>
              <a:t>ATS-oriented resume builder linked to real learner data</a:t>
            </a:r>
          </a:p>
        </p:txBody>
      </p:sp>
      <p:sp>
        <p:nvSpPr>
          <p:cNvPr id="33" name="TextBox 32"/>
          <p:cNvSpPr txBox="1"/>
          <p:nvPr/>
        </p:nvSpPr>
        <p:spPr>
          <a:xfrm>
            <a:off x="685800" y="4718304"/>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4" name="TextBox 33"/>
          <p:cNvSpPr txBox="1"/>
          <p:nvPr/>
        </p:nvSpPr>
        <p:spPr>
          <a:xfrm>
            <a:off x="960120" y="4700016"/>
            <a:ext cx="5166360" cy="365760"/>
          </a:xfrm>
          <a:prstGeom prst="rect">
            <a:avLst/>
          </a:prstGeom>
          <a:noFill/>
        </p:spPr>
        <p:txBody>
          <a:bodyPr wrap="square" anchor="t">
            <a:spAutoFit/>
          </a:bodyPr>
          <a:lstStyle/>
          <a:p>
            <a:pPr algn="l"/>
            <a:r>
              <a:rPr sz="1500" b="0" i="0">
                <a:solidFill>
                  <a:srgbClr val="F2ECE0"/>
                </a:solidFill>
                <a:latin typeface="Aptos"/>
              </a:rPr>
              <a:t>A direct bridge from proof to application assets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09  DEEP DIVE 3</a:t>
            </a:r>
          </a:p>
        </p:txBody>
      </p:sp>
      <p:sp>
        <p:nvSpPr>
          <p:cNvPr id="17" name="TextBox 16"/>
          <p:cNvSpPr txBox="1"/>
          <p:nvPr/>
        </p:nvSpPr>
        <p:spPr>
          <a:xfrm>
            <a:off x="502920" y="841248"/>
            <a:ext cx="5577840" cy="1371600"/>
          </a:xfrm>
          <a:prstGeom prst="rect">
            <a:avLst/>
          </a:prstGeom>
          <a:noFill/>
        </p:spPr>
        <p:txBody>
          <a:bodyPr wrap="square" anchor="t">
            <a:spAutoFit/>
          </a:bodyPr>
          <a:lstStyle/>
          <a:p>
            <a:pPr algn="l"/>
            <a:r>
              <a:rPr sz="2800" b="1" i="0">
                <a:solidFill>
                  <a:srgbClr val="F2ECE0"/>
                </a:solidFill>
                <a:latin typeface="Aptos Display"/>
              </a:rPr>
              <a:t>Job readiness becomes measurable.</a:t>
            </a:r>
          </a:p>
        </p:txBody>
      </p:sp>
      <p:sp>
        <p:nvSpPr>
          <p:cNvPr id="18" name="TextBox 17"/>
          <p:cNvSpPr txBox="1"/>
          <p:nvPr/>
        </p:nvSpPr>
        <p:spPr>
          <a:xfrm>
            <a:off x="530352" y="1801368"/>
            <a:ext cx="5486400" cy="914400"/>
          </a:xfrm>
          <a:prstGeom prst="rect">
            <a:avLst/>
          </a:prstGeom>
          <a:noFill/>
        </p:spPr>
        <p:txBody>
          <a:bodyPr wrap="square" anchor="t">
            <a:spAutoFit/>
          </a:bodyPr>
          <a:lstStyle/>
          <a:p>
            <a:pPr algn="l"/>
            <a:r>
              <a:rPr sz="1600" b="0" i="0">
                <a:solidFill>
                  <a:srgbClr val="B0AA9E"/>
                </a:solidFill>
                <a:latin typeface="Aptos"/>
              </a:rPr>
              <a:t>The Opportunity Analyzer and Application Tracker connect jobs to skills, missing topics, action plans, and follow-through.</a:t>
            </a:r>
          </a:p>
        </p:txBody>
      </p:sp>
      <p:sp>
        <p:nvSpPr>
          <p:cNvPr id="19" name="Rounded Rectangle 18"/>
          <p:cNvSpPr/>
          <p:nvPr/>
        </p:nvSpPr>
        <p:spPr>
          <a:xfrm>
            <a:off x="6400800" y="1325880"/>
            <a:ext cx="2240280" cy="43891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1527048"/>
            <a:ext cx="1837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1" name="TextBox 20"/>
          <p:cNvSpPr txBox="1"/>
          <p:nvPr/>
        </p:nvSpPr>
        <p:spPr>
          <a:xfrm>
            <a:off x="6601968" y="1965960"/>
            <a:ext cx="1837944" cy="731520"/>
          </a:xfrm>
          <a:prstGeom prst="rect">
            <a:avLst/>
          </a:prstGeom>
          <a:noFill/>
        </p:spPr>
        <p:txBody>
          <a:bodyPr wrap="square" anchor="t">
            <a:spAutoFit/>
          </a:bodyPr>
          <a:lstStyle/>
          <a:p>
            <a:pPr algn="l"/>
            <a:r>
              <a:rPr sz="1800" b="1" i="0">
                <a:solidFill>
                  <a:srgbClr val="F2ECE0"/>
                </a:solidFill>
                <a:latin typeface="Aptos Display"/>
              </a:rPr>
              <a:t>Opportunity Analyzer results</a:t>
            </a:r>
          </a:p>
        </p:txBody>
      </p:sp>
      <p:sp>
        <p:nvSpPr>
          <p:cNvPr id="22" name="TextBox 21"/>
          <p:cNvSpPr txBox="1"/>
          <p:nvPr/>
        </p:nvSpPr>
        <p:spPr>
          <a:xfrm>
            <a:off x="6601968" y="2496312"/>
            <a:ext cx="1837944" cy="30175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3" name="Rounded Rectangle 22"/>
          <p:cNvSpPr/>
          <p:nvPr/>
        </p:nvSpPr>
        <p:spPr>
          <a:xfrm>
            <a:off x="8823960" y="1325880"/>
            <a:ext cx="2240280" cy="438912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25128" y="1527048"/>
            <a:ext cx="183794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5" name="TextBox 24"/>
          <p:cNvSpPr txBox="1"/>
          <p:nvPr/>
        </p:nvSpPr>
        <p:spPr>
          <a:xfrm>
            <a:off x="9025128" y="1965960"/>
            <a:ext cx="1837944" cy="731520"/>
          </a:xfrm>
          <a:prstGeom prst="rect">
            <a:avLst/>
          </a:prstGeom>
          <a:noFill/>
        </p:spPr>
        <p:txBody>
          <a:bodyPr wrap="square" anchor="t">
            <a:spAutoFit/>
          </a:bodyPr>
          <a:lstStyle/>
          <a:p>
            <a:pPr algn="l"/>
            <a:r>
              <a:rPr sz="1800" b="1" i="0">
                <a:solidFill>
                  <a:srgbClr val="F2ECE0"/>
                </a:solidFill>
                <a:latin typeface="Aptos Display"/>
              </a:rPr>
              <a:t>Application Tracker</a:t>
            </a:r>
          </a:p>
        </p:txBody>
      </p:sp>
      <p:sp>
        <p:nvSpPr>
          <p:cNvPr id="26" name="TextBox 25"/>
          <p:cNvSpPr txBox="1"/>
          <p:nvPr/>
        </p:nvSpPr>
        <p:spPr>
          <a:xfrm>
            <a:off x="9025128" y="2496312"/>
            <a:ext cx="1837944" cy="301752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7" name="TextBox 26"/>
          <p:cNvSpPr txBox="1"/>
          <p:nvPr/>
        </p:nvSpPr>
        <p:spPr>
          <a:xfrm>
            <a:off x="685800" y="2743200"/>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28" name="TextBox 27"/>
          <p:cNvSpPr txBox="1"/>
          <p:nvPr/>
        </p:nvSpPr>
        <p:spPr>
          <a:xfrm>
            <a:off x="960120" y="2724912"/>
            <a:ext cx="5166360" cy="365760"/>
          </a:xfrm>
          <a:prstGeom prst="rect">
            <a:avLst/>
          </a:prstGeom>
          <a:noFill/>
        </p:spPr>
        <p:txBody>
          <a:bodyPr wrap="square" anchor="t">
            <a:spAutoFit/>
          </a:bodyPr>
          <a:lstStyle/>
          <a:p>
            <a:pPr algn="l"/>
            <a:r>
              <a:rPr sz="1500" b="0" i="0">
                <a:solidFill>
                  <a:srgbClr val="F2ECE0"/>
                </a:solidFill>
                <a:latin typeface="Aptos"/>
              </a:rPr>
              <a:t>Curated opportunity feed plus manual job description analysis</a:t>
            </a:r>
          </a:p>
        </p:txBody>
      </p:sp>
      <p:sp>
        <p:nvSpPr>
          <p:cNvPr id="29" name="TextBox 28"/>
          <p:cNvSpPr txBox="1"/>
          <p:nvPr/>
        </p:nvSpPr>
        <p:spPr>
          <a:xfrm>
            <a:off x="685800" y="3401568"/>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0" name="TextBox 29"/>
          <p:cNvSpPr txBox="1"/>
          <p:nvPr/>
        </p:nvSpPr>
        <p:spPr>
          <a:xfrm>
            <a:off x="960120" y="3383279"/>
            <a:ext cx="5166360" cy="365760"/>
          </a:xfrm>
          <a:prstGeom prst="rect">
            <a:avLst/>
          </a:prstGeom>
          <a:noFill/>
        </p:spPr>
        <p:txBody>
          <a:bodyPr wrap="square" anchor="t">
            <a:spAutoFit/>
          </a:bodyPr>
          <a:lstStyle/>
          <a:p>
            <a:pPr algn="l"/>
            <a:r>
              <a:rPr sz="1500" b="0" i="0">
                <a:solidFill>
                  <a:srgbClr val="F2ECE0"/>
                </a:solidFill>
                <a:latin typeface="Aptos"/>
              </a:rPr>
              <a:t>Match score, missing skills, and roadmap-linked next steps</a:t>
            </a:r>
          </a:p>
        </p:txBody>
      </p:sp>
      <p:sp>
        <p:nvSpPr>
          <p:cNvPr id="31" name="TextBox 30"/>
          <p:cNvSpPr txBox="1"/>
          <p:nvPr/>
        </p:nvSpPr>
        <p:spPr>
          <a:xfrm>
            <a:off x="685800" y="4059935"/>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2" name="TextBox 31"/>
          <p:cNvSpPr txBox="1"/>
          <p:nvPr/>
        </p:nvSpPr>
        <p:spPr>
          <a:xfrm>
            <a:off x="960120" y="4041648"/>
            <a:ext cx="5166360" cy="365760"/>
          </a:xfrm>
          <a:prstGeom prst="rect">
            <a:avLst/>
          </a:prstGeom>
          <a:noFill/>
        </p:spPr>
        <p:txBody>
          <a:bodyPr wrap="square" anchor="t">
            <a:spAutoFit/>
          </a:bodyPr>
          <a:lstStyle/>
          <a:p>
            <a:pPr algn="l"/>
            <a:r>
              <a:rPr sz="1500" b="0" i="0">
                <a:solidFill>
                  <a:srgbClr val="F2ECE0"/>
                </a:solidFill>
                <a:latin typeface="Aptos"/>
              </a:rPr>
              <a:t>Resume and portfolio relevance in one workflow</a:t>
            </a:r>
          </a:p>
        </p:txBody>
      </p:sp>
      <p:sp>
        <p:nvSpPr>
          <p:cNvPr id="33" name="TextBox 32"/>
          <p:cNvSpPr txBox="1"/>
          <p:nvPr/>
        </p:nvSpPr>
        <p:spPr>
          <a:xfrm>
            <a:off x="685800" y="4718304"/>
            <a:ext cx="228600" cy="228600"/>
          </a:xfrm>
          <a:prstGeom prst="rect">
            <a:avLst/>
          </a:prstGeom>
          <a:noFill/>
        </p:spPr>
        <p:txBody>
          <a:bodyPr wrap="square" anchor="t">
            <a:spAutoFit/>
          </a:bodyPr>
          <a:lstStyle/>
          <a:p>
            <a:pPr algn="l"/>
            <a:r>
              <a:rPr sz="1400" b="1" i="0">
                <a:solidFill>
                  <a:srgbClr val="E0823A"/>
                </a:solidFill>
                <a:latin typeface="Aptos"/>
              </a:rPr>
              <a:t>◈</a:t>
            </a:r>
          </a:p>
        </p:txBody>
      </p:sp>
      <p:sp>
        <p:nvSpPr>
          <p:cNvPr id="34" name="TextBox 33"/>
          <p:cNvSpPr txBox="1"/>
          <p:nvPr/>
        </p:nvSpPr>
        <p:spPr>
          <a:xfrm>
            <a:off x="960120" y="4700016"/>
            <a:ext cx="5166360" cy="365760"/>
          </a:xfrm>
          <a:prstGeom prst="rect">
            <a:avLst/>
          </a:prstGeom>
          <a:noFill/>
        </p:spPr>
        <p:txBody>
          <a:bodyPr wrap="square" anchor="t">
            <a:spAutoFit/>
          </a:bodyPr>
          <a:lstStyle/>
          <a:p>
            <a:pPr algn="l"/>
            <a:r>
              <a:rPr sz="1500" b="0" i="0">
                <a:solidFill>
                  <a:srgbClr val="F2ECE0"/>
                </a:solidFill>
                <a:latin typeface="Aptos"/>
              </a:rPr>
              <a:t>Application stages tracked from saved to offer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10  ARCHITECTURE</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The system was built for reliability.</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The technical architecture favors modularity, secure data handling, and clear boundaries between learner-facing features and platform logic.</a:t>
            </a:r>
          </a:p>
        </p:txBody>
      </p:sp>
      <p:sp>
        <p:nvSpPr>
          <p:cNvPr id="19" name="Rounded Rectangle 18"/>
          <p:cNvSpPr/>
          <p:nvPr/>
        </p:nvSpPr>
        <p:spPr>
          <a:xfrm>
            <a:off x="640080" y="2743200"/>
            <a:ext cx="2743200" cy="24688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1" y="2944368"/>
            <a:ext cx="2423160" cy="320040"/>
          </a:xfrm>
          <a:prstGeom prst="rect">
            <a:avLst/>
          </a:prstGeom>
          <a:noFill/>
        </p:spPr>
        <p:txBody>
          <a:bodyPr wrap="square" anchor="t">
            <a:spAutoFit/>
          </a:bodyPr>
          <a:lstStyle/>
          <a:p>
            <a:pPr algn="l"/>
            <a:r>
              <a:rPr sz="2000" b="1" i="0">
                <a:solidFill>
                  <a:srgbClr val="F2ECE0"/>
                </a:solidFill>
                <a:latin typeface="Aptos Display"/>
              </a:rPr>
              <a:t>Frontend</a:t>
            </a:r>
          </a:p>
        </p:txBody>
      </p:sp>
      <p:sp>
        <p:nvSpPr>
          <p:cNvPr id="21" name="TextBox 20"/>
          <p:cNvSpPr txBox="1"/>
          <p:nvPr/>
        </p:nvSpPr>
        <p:spPr>
          <a:xfrm>
            <a:off x="822959" y="3383280"/>
            <a:ext cx="2423160" cy="274320"/>
          </a:xfrm>
          <a:prstGeom prst="rect">
            <a:avLst/>
          </a:prstGeom>
          <a:noFill/>
        </p:spPr>
        <p:txBody>
          <a:bodyPr wrap="square" anchor="t">
            <a:spAutoFit/>
          </a:bodyPr>
          <a:lstStyle/>
          <a:p>
            <a:pPr algn="l"/>
            <a:r>
              <a:rPr sz="1400" b="0" i="0">
                <a:solidFill>
                  <a:srgbClr val="B0AA9E"/>
                </a:solidFill>
                <a:latin typeface="Aptos"/>
              </a:rPr>
              <a:t>• Next.js 16</a:t>
            </a:r>
          </a:p>
        </p:txBody>
      </p:sp>
      <p:sp>
        <p:nvSpPr>
          <p:cNvPr id="22" name="TextBox 21"/>
          <p:cNvSpPr txBox="1"/>
          <p:nvPr/>
        </p:nvSpPr>
        <p:spPr>
          <a:xfrm>
            <a:off x="822959" y="3767328"/>
            <a:ext cx="2423160" cy="274320"/>
          </a:xfrm>
          <a:prstGeom prst="rect">
            <a:avLst/>
          </a:prstGeom>
          <a:noFill/>
        </p:spPr>
        <p:txBody>
          <a:bodyPr wrap="square" anchor="t">
            <a:spAutoFit/>
          </a:bodyPr>
          <a:lstStyle/>
          <a:p>
            <a:pPr algn="l"/>
            <a:r>
              <a:rPr sz="1400" b="0" i="0">
                <a:solidFill>
                  <a:srgbClr val="B0AA9E"/>
                </a:solidFill>
                <a:latin typeface="Aptos"/>
              </a:rPr>
              <a:t>• React 19</a:t>
            </a:r>
          </a:p>
        </p:txBody>
      </p:sp>
      <p:sp>
        <p:nvSpPr>
          <p:cNvPr id="23" name="TextBox 22"/>
          <p:cNvSpPr txBox="1"/>
          <p:nvPr/>
        </p:nvSpPr>
        <p:spPr>
          <a:xfrm>
            <a:off x="822959" y="4151376"/>
            <a:ext cx="2423160" cy="274320"/>
          </a:xfrm>
          <a:prstGeom prst="rect">
            <a:avLst/>
          </a:prstGeom>
          <a:noFill/>
        </p:spPr>
        <p:txBody>
          <a:bodyPr wrap="square" anchor="t">
            <a:spAutoFit/>
          </a:bodyPr>
          <a:lstStyle/>
          <a:p>
            <a:pPr algn="l"/>
            <a:r>
              <a:rPr sz="1400" b="0" i="0">
                <a:solidFill>
                  <a:srgbClr val="B0AA9E"/>
                </a:solidFill>
                <a:latin typeface="Aptos"/>
              </a:rPr>
              <a:t>• App Router</a:t>
            </a:r>
          </a:p>
        </p:txBody>
      </p:sp>
      <p:sp>
        <p:nvSpPr>
          <p:cNvPr id="24" name="TextBox 23"/>
          <p:cNvSpPr txBox="1"/>
          <p:nvPr/>
        </p:nvSpPr>
        <p:spPr>
          <a:xfrm>
            <a:off x="822959" y="4535424"/>
            <a:ext cx="2423160" cy="274320"/>
          </a:xfrm>
          <a:prstGeom prst="rect">
            <a:avLst/>
          </a:prstGeom>
          <a:noFill/>
        </p:spPr>
        <p:txBody>
          <a:bodyPr wrap="square" anchor="t">
            <a:spAutoFit/>
          </a:bodyPr>
          <a:lstStyle/>
          <a:p>
            <a:pPr algn="l"/>
            <a:r>
              <a:rPr sz="1400" b="0" i="0">
                <a:solidFill>
                  <a:srgbClr val="B0AA9E"/>
                </a:solidFill>
                <a:latin typeface="Aptos"/>
              </a:rPr>
              <a:t>• Bilingual UI</a:t>
            </a:r>
          </a:p>
        </p:txBody>
      </p:sp>
      <p:sp>
        <p:nvSpPr>
          <p:cNvPr id="25" name="Rounded Rectangle 24"/>
          <p:cNvSpPr/>
          <p:nvPr/>
        </p:nvSpPr>
        <p:spPr>
          <a:xfrm>
            <a:off x="3794760" y="2743200"/>
            <a:ext cx="2743200" cy="24688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59352" y="2944368"/>
            <a:ext cx="2423160" cy="320040"/>
          </a:xfrm>
          <a:prstGeom prst="rect">
            <a:avLst/>
          </a:prstGeom>
          <a:noFill/>
        </p:spPr>
        <p:txBody>
          <a:bodyPr wrap="square" anchor="t">
            <a:spAutoFit/>
          </a:bodyPr>
          <a:lstStyle/>
          <a:p>
            <a:pPr algn="l"/>
            <a:r>
              <a:rPr sz="2000" b="1" i="0">
                <a:solidFill>
                  <a:srgbClr val="F2ECE0"/>
                </a:solidFill>
                <a:latin typeface="Aptos Display"/>
              </a:rPr>
              <a:t>Application</a:t>
            </a:r>
          </a:p>
        </p:txBody>
      </p:sp>
      <p:sp>
        <p:nvSpPr>
          <p:cNvPr id="27" name="TextBox 26"/>
          <p:cNvSpPr txBox="1"/>
          <p:nvPr/>
        </p:nvSpPr>
        <p:spPr>
          <a:xfrm>
            <a:off x="3977640" y="3383280"/>
            <a:ext cx="2423160" cy="274320"/>
          </a:xfrm>
          <a:prstGeom prst="rect">
            <a:avLst/>
          </a:prstGeom>
          <a:noFill/>
        </p:spPr>
        <p:txBody>
          <a:bodyPr wrap="square" anchor="t">
            <a:spAutoFit/>
          </a:bodyPr>
          <a:lstStyle/>
          <a:p>
            <a:pPr algn="l"/>
            <a:r>
              <a:rPr sz="1400" b="0" i="0">
                <a:solidFill>
                  <a:srgbClr val="B0AA9E"/>
                </a:solidFill>
                <a:latin typeface="Aptos"/>
              </a:rPr>
              <a:t>• Feature-based modules</a:t>
            </a:r>
          </a:p>
        </p:txBody>
      </p:sp>
      <p:sp>
        <p:nvSpPr>
          <p:cNvPr id="28" name="TextBox 27"/>
          <p:cNvSpPr txBox="1"/>
          <p:nvPr/>
        </p:nvSpPr>
        <p:spPr>
          <a:xfrm>
            <a:off x="3977640" y="3767328"/>
            <a:ext cx="2423160" cy="274320"/>
          </a:xfrm>
          <a:prstGeom prst="rect">
            <a:avLst/>
          </a:prstGeom>
          <a:noFill/>
        </p:spPr>
        <p:txBody>
          <a:bodyPr wrap="square" anchor="t">
            <a:spAutoFit/>
          </a:bodyPr>
          <a:lstStyle/>
          <a:p>
            <a:pPr algn="l"/>
            <a:r>
              <a:rPr sz="1400" b="0" i="0">
                <a:solidFill>
                  <a:srgbClr val="B0AA9E"/>
                </a:solidFill>
                <a:latin typeface="Aptos"/>
              </a:rPr>
              <a:t>• Server actions</a:t>
            </a:r>
          </a:p>
        </p:txBody>
      </p:sp>
      <p:sp>
        <p:nvSpPr>
          <p:cNvPr id="29" name="TextBox 28"/>
          <p:cNvSpPr txBox="1"/>
          <p:nvPr/>
        </p:nvSpPr>
        <p:spPr>
          <a:xfrm>
            <a:off x="3977640" y="4151376"/>
            <a:ext cx="2423160" cy="274320"/>
          </a:xfrm>
          <a:prstGeom prst="rect">
            <a:avLst/>
          </a:prstGeom>
          <a:noFill/>
        </p:spPr>
        <p:txBody>
          <a:bodyPr wrap="square" anchor="t">
            <a:spAutoFit/>
          </a:bodyPr>
          <a:lstStyle/>
          <a:p>
            <a:pPr algn="l"/>
            <a:r>
              <a:rPr sz="1400" b="0" i="0">
                <a:solidFill>
                  <a:srgbClr val="B0AA9E"/>
                </a:solidFill>
                <a:latin typeface="Aptos"/>
              </a:rPr>
              <a:t>• Zod validation</a:t>
            </a:r>
          </a:p>
        </p:txBody>
      </p:sp>
      <p:sp>
        <p:nvSpPr>
          <p:cNvPr id="30" name="TextBox 29"/>
          <p:cNvSpPr txBox="1"/>
          <p:nvPr/>
        </p:nvSpPr>
        <p:spPr>
          <a:xfrm>
            <a:off x="3977640" y="4535424"/>
            <a:ext cx="2423160" cy="274320"/>
          </a:xfrm>
          <a:prstGeom prst="rect">
            <a:avLst/>
          </a:prstGeom>
          <a:noFill/>
        </p:spPr>
        <p:txBody>
          <a:bodyPr wrap="square" anchor="t">
            <a:spAutoFit/>
          </a:bodyPr>
          <a:lstStyle/>
          <a:p>
            <a:pPr algn="l"/>
            <a:r>
              <a:rPr sz="1400" b="0" i="0">
                <a:solidFill>
                  <a:srgbClr val="B0AA9E"/>
                </a:solidFill>
                <a:latin typeface="Aptos"/>
              </a:rPr>
              <a:t>• Rule-based logic first</a:t>
            </a:r>
          </a:p>
        </p:txBody>
      </p:sp>
      <p:sp>
        <p:nvSpPr>
          <p:cNvPr id="31" name="Rounded Rectangle 30"/>
          <p:cNvSpPr/>
          <p:nvPr/>
        </p:nvSpPr>
        <p:spPr>
          <a:xfrm>
            <a:off x="6949440" y="2743200"/>
            <a:ext cx="4023360" cy="24688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14031" y="2944368"/>
            <a:ext cx="3703320" cy="320040"/>
          </a:xfrm>
          <a:prstGeom prst="rect">
            <a:avLst/>
          </a:prstGeom>
          <a:noFill/>
        </p:spPr>
        <p:txBody>
          <a:bodyPr wrap="square" anchor="t">
            <a:spAutoFit/>
          </a:bodyPr>
          <a:lstStyle/>
          <a:p>
            <a:pPr algn="l"/>
            <a:r>
              <a:rPr sz="2000" b="1" i="0">
                <a:solidFill>
                  <a:srgbClr val="F2ECE0"/>
                </a:solidFill>
                <a:latin typeface="Aptos Display"/>
              </a:rPr>
              <a:t>Data + AI</a:t>
            </a:r>
          </a:p>
        </p:txBody>
      </p:sp>
      <p:sp>
        <p:nvSpPr>
          <p:cNvPr id="33" name="TextBox 32"/>
          <p:cNvSpPr txBox="1"/>
          <p:nvPr/>
        </p:nvSpPr>
        <p:spPr>
          <a:xfrm>
            <a:off x="7132320" y="3383280"/>
            <a:ext cx="3703320" cy="274320"/>
          </a:xfrm>
          <a:prstGeom prst="rect">
            <a:avLst/>
          </a:prstGeom>
          <a:noFill/>
        </p:spPr>
        <p:txBody>
          <a:bodyPr wrap="square" anchor="t">
            <a:spAutoFit/>
          </a:bodyPr>
          <a:lstStyle/>
          <a:p>
            <a:pPr algn="l"/>
            <a:r>
              <a:rPr sz="1400" b="0" i="0">
                <a:solidFill>
                  <a:srgbClr val="B0AA9E"/>
                </a:solidFill>
                <a:latin typeface="Aptos"/>
              </a:rPr>
              <a:t>• Supabase / PostgreSQL</a:t>
            </a:r>
          </a:p>
        </p:txBody>
      </p:sp>
      <p:sp>
        <p:nvSpPr>
          <p:cNvPr id="34" name="TextBox 33"/>
          <p:cNvSpPr txBox="1"/>
          <p:nvPr/>
        </p:nvSpPr>
        <p:spPr>
          <a:xfrm>
            <a:off x="7132320" y="3767328"/>
            <a:ext cx="3703320" cy="274320"/>
          </a:xfrm>
          <a:prstGeom prst="rect">
            <a:avLst/>
          </a:prstGeom>
          <a:noFill/>
        </p:spPr>
        <p:txBody>
          <a:bodyPr wrap="square" anchor="t">
            <a:spAutoFit/>
          </a:bodyPr>
          <a:lstStyle/>
          <a:p>
            <a:pPr algn="l"/>
            <a:r>
              <a:rPr sz="1400" b="0" i="0">
                <a:solidFill>
                  <a:srgbClr val="B0AA9E"/>
                </a:solidFill>
                <a:latin typeface="Aptos"/>
              </a:rPr>
              <a:t>• RLS-aware access</a:t>
            </a:r>
          </a:p>
        </p:txBody>
      </p:sp>
      <p:sp>
        <p:nvSpPr>
          <p:cNvPr id="35" name="TextBox 34"/>
          <p:cNvSpPr txBox="1"/>
          <p:nvPr/>
        </p:nvSpPr>
        <p:spPr>
          <a:xfrm>
            <a:off x="7132320" y="4151376"/>
            <a:ext cx="3703320" cy="274320"/>
          </a:xfrm>
          <a:prstGeom prst="rect">
            <a:avLst/>
          </a:prstGeom>
          <a:noFill/>
        </p:spPr>
        <p:txBody>
          <a:bodyPr wrap="square" anchor="t">
            <a:spAutoFit/>
          </a:bodyPr>
          <a:lstStyle/>
          <a:p>
            <a:pPr algn="l"/>
            <a:r>
              <a:rPr sz="1400" b="0" i="0">
                <a:solidFill>
                  <a:srgbClr val="B0AA9E"/>
                </a:solidFill>
                <a:latin typeface="Aptos"/>
              </a:rPr>
              <a:t>• OpenAI for language tasks</a:t>
            </a:r>
          </a:p>
        </p:txBody>
      </p:sp>
      <p:sp>
        <p:nvSpPr>
          <p:cNvPr id="36" name="TextBox 35"/>
          <p:cNvSpPr txBox="1"/>
          <p:nvPr/>
        </p:nvSpPr>
        <p:spPr>
          <a:xfrm>
            <a:off x="7132320" y="4535424"/>
            <a:ext cx="3703320" cy="274320"/>
          </a:xfrm>
          <a:prstGeom prst="rect">
            <a:avLst/>
          </a:prstGeom>
          <a:noFill/>
        </p:spPr>
        <p:txBody>
          <a:bodyPr wrap="square" anchor="t">
            <a:spAutoFit/>
          </a:bodyPr>
          <a:lstStyle/>
          <a:p>
            <a:pPr algn="l"/>
            <a:r>
              <a:rPr sz="1400" b="0" i="0">
                <a:solidFill>
                  <a:srgbClr val="B0AA9E"/>
                </a:solidFill>
                <a:latin typeface="Aptos"/>
              </a:rPr>
              <a:t>• Admin visibility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11  METHODOLOGY</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We built it iteratively and deliberately.</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The project followed an Agile path from problem framing and analysis through design, implementation, testing, and live deployment.</a:t>
            </a:r>
          </a:p>
        </p:txBody>
      </p:sp>
      <p:sp>
        <p:nvSpPr>
          <p:cNvPr id="19" name="Rectangle 18"/>
          <p:cNvSpPr/>
          <p:nvPr/>
        </p:nvSpPr>
        <p:spPr>
          <a:xfrm>
            <a:off x="777240" y="3749039"/>
            <a:ext cx="9966960" cy="36576"/>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868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977639"/>
            <a:ext cx="868680" cy="502920"/>
          </a:xfrm>
          <a:prstGeom prst="rect">
            <a:avLst/>
          </a:prstGeom>
          <a:noFill/>
        </p:spPr>
        <p:txBody>
          <a:bodyPr wrap="square" anchor="t">
            <a:spAutoFit/>
          </a:bodyPr>
          <a:lstStyle/>
          <a:p>
            <a:pPr algn="ctr"/>
            <a:r>
              <a:rPr sz="1300" b="1" i="0">
                <a:solidFill>
                  <a:srgbClr val="F2ECE0"/>
                </a:solidFill>
                <a:latin typeface="Aptos"/>
              </a:rPr>
              <a:t>Planning</a:t>
            </a:r>
          </a:p>
        </p:txBody>
      </p:sp>
      <p:sp>
        <p:nvSpPr>
          <p:cNvPr id="22" name="Oval 21"/>
          <p:cNvSpPr/>
          <p:nvPr/>
        </p:nvSpPr>
        <p:spPr>
          <a:xfrm>
            <a:off x="256032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59151" y="3977639"/>
            <a:ext cx="868680" cy="502920"/>
          </a:xfrm>
          <a:prstGeom prst="rect">
            <a:avLst/>
          </a:prstGeom>
          <a:noFill/>
        </p:spPr>
        <p:txBody>
          <a:bodyPr wrap="square" anchor="t">
            <a:spAutoFit/>
          </a:bodyPr>
          <a:lstStyle/>
          <a:p>
            <a:pPr algn="ctr"/>
            <a:r>
              <a:rPr sz="1300" b="1" i="0">
                <a:solidFill>
                  <a:srgbClr val="F2ECE0"/>
                </a:solidFill>
                <a:latin typeface="Aptos"/>
              </a:rPr>
              <a:t>Requirements</a:t>
            </a:r>
          </a:p>
        </p:txBody>
      </p:sp>
      <p:sp>
        <p:nvSpPr>
          <p:cNvPr id="24" name="Oval 23"/>
          <p:cNvSpPr/>
          <p:nvPr/>
        </p:nvSpPr>
        <p:spPr>
          <a:xfrm>
            <a:off x="425196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50792" y="3977639"/>
            <a:ext cx="868680" cy="502920"/>
          </a:xfrm>
          <a:prstGeom prst="rect">
            <a:avLst/>
          </a:prstGeom>
          <a:noFill/>
        </p:spPr>
        <p:txBody>
          <a:bodyPr wrap="square" anchor="t">
            <a:spAutoFit/>
          </a:bodyPr>
          <a:lstStyle/>
          <a:p>
            <a:pPr algn="ctr"/>
            <a:r>
              <a:rPr sz="1300" b="1" i="0">
                <a:solidFill>
                  <a:srgbClr val="F2ECE0"/>
                </a:solidFill>
                <a:latin typeface="Aptos"/>
              </a:rPr>
              <a:t>System Design</a:t>
            </a:r>
          </a:p>
        </p:txBody>
      </p:sp>
      <p:sp>
        <p:nvSpPr>
          <p:cNvPr id="26" name="Oval 25"/>
          <p:cNvSpPr/>
          <p:nvPr/>
        </p:nvSpPr>
        <p:spPr>
          <a:xfrm>
            <a:off x="594360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42432" y="3977639"/>
            <a:ext cx="868680" cy="502920"/>
          </a:xfrm>
          <a:prstGeom prst="rect">
            <a:avLst/>
          </a:prstGeom>
          <a:noFill/>
        </p:spPr>
        <p:txBody>
          <a:bodyPr wrap="square" anchor="t">
            <a:spAutoFit/>
          </a:bodyPr>
          <a:lstStyle/>
          <a:p>
            <a:pPr algn="ctr"/>
            <a:r>
              <a:rPr sz="1300" b="1" i="0">
                <a:solidFill>
                  <a:srgbClr val="F2ECE0"/>
                </a:solidFill>
                <a:latin typeface="Aptos"/>
              </a:rPr>
              <a:t>Implementation</a:t>
            </a:r>
          </a:p>
        </p:txBody>
      </p:sp>
      <p:sp>
        <p:nvSpPr>
          <p:cNvPr id="28" name="Oval 27"/>
          <p:cNvSpPr/>
          <p:nvPr/>
        </p:nvSpPr>
        <p:spPr>
          <a:xfrm>
            <a:off x="763524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4071" y="3977639"/>
            <a:ext cx="868680" cy="502920"/>
          </a:xfrm>
          <a:prstGeom prst="rect">
            <a:avLst/>
          </a:prstGeom>
          <a:noFill/>
        </p:spPr>
        <p:txBody>
          <a:bodyPr wrap="square" anchor="t">
            <a:spAutoFit/>
          </a:bodyPr>
          <a:lstStyle/>
          <a:p>
            <a:pPr algn="ctr"/>
            <a:r>
              <a:rPr sz="1300" b="1" i="0">
                <a:solidFill>
                  <a:srgbClr val="F2ECE0"/>
                </a:solidFill>
                <a:latin typeface="Aptos"/>
              </a:rPr>
              <a:t>Testing</a:t>
            </a:r>
          </a:p>
        </p:txBody>
      </p:sp>
      <p:sp>
        <p:nvSpPr>
          <p:cNvPr id="30" name="Oval 29"/>
          <p:cNvSpPr/>
          <p:nvPr/>
        </p:nvSpPr>
        <p:spPr>
          <a:xfrm>
            <a:off x="9326880" y="3429000"/>
            <a:ext cx="384048" cy="384048"/>
          </a:xfrm>
          <a:prstGeom prst="ellipse">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25711" y="3977639"/>
            <a:ext cx="868680" cy="502920"/>
          </a:xfrm>
          <a:prstGeom prst="rect">
            <a:avLst/>
          </a:prstGeom>
          <a:noFill/>
        </p:spPr>
        <p:txBody>
          <a:bodyPr wrap="square" anchor="t">
            <a:spAutoFit/>
          </a:bodyPr>
          <a:lstStyle/>
          <a:p>
            <a:pPr algn="ctr"/>
            <a:r>
              <a:rPr sz="1300" b="1" i="0">
                <a:solidFill>
                  <a:srgbClr val="F2ECE0"/>
                </a:solidFill>
                <a:latin typeface="Aptos"/>
              </a:rPr>
              <a:t>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12  WHAT WAS BUILT</a:t>
            </a:r>
          </a:p>
        </p:txBody>
      </p:sp>
      <p:sp>
        <p:nvSpPr>
          <p:cNvPr id="17" name="TextBox 16"/>
          <p:cNvSpPr txBox="1"/>
          <p:nvPr/>
        </p:nvSpPr>
        <p:spPr>
          <a:xfrm>
            <a:off x="502920" y="868680"/>
            <a:ext cx="5577840" cy="1371600"/>
          </a:xfrm>
          <a:prstGeom prst="rect">
            <a:avLst/>
          </a:prstGeom>
          <a:noFill/>
        </p:spPr>
        <p:txBody>
          <a:bodyPr wrap="square" anchor="t">
            <a:spAutoFit/>
          </a:bodyPr>
          <a:lstStyle/>
          <a:p>
            <a:pPr algn="l"/>
            <a:r>
              <a:rPr sz="2800" b="1" i="0">
                <a:solidFill>
                  <a:srgbClr val="F2ECE0"/>
                </a:solidFill>
                <a:latin typeface="Aptos Display"/>
              </a:rPr>
              <a:t>This is already a complete product.</a:t>
            </a:r>
          </a:p>
        </p:txBody>
      </p:sp>
      <p:sp>
        <p:nvSpPr>
          <p:cNvPr id="18" name="TextBox 17"/>
          <p:cNvSpPr txBox="1"/>
          <p:nvPr/>
        </p:nvSpPr>
        <p:spPr>
          <a:xfrm>
            <a:off x="530352" y="1828800"/>
            <a:ext cx="5486400" cy="914400"/>
          </a:xfrm>
          <a:prstGeom prst="rect">
            <a:avLst/>
          </a:prstGeom>
          <a:noFill/>
        </p:spPr>
        <p:txBody>
          <a:bodyPr wrap="square" anchor="t">
            <a:spAutoFit/>
          </a:bodyPr>
          <a:lstStyle/>
          <a:p>
            <a:pPr algn="l"/>
            <a:r>
              <a:rPr sz="1600" b="0" i="0">
                <a:solidFill>
                  <a:srgbClr val="B0AA9E"/>
                </a:solidFill>
                <a:latin typeface="Aptos"/>
              </a:rPr>
              <a:t>Mallah is not a single prototype screen. It is a connected platform with breadth across learner workflow, administration, and bilingual delivery.</a:t>
            </a:r>
          </a:p>
        </p:txBody>
      </p:sp>
      <p:sp>
        <p:nvSpPr>
          <p:cNvPr id="19" name="Rounded Rectangle 18"/>
          <p:cNvSpPr/>
          <p:nvPr/>
        </p:nvSpPr>
        <p:spPr>
          <a:xfrm>
            <a:off x="6537960" y="1554480"/>
            <a:ext cx="4343400" cy="36118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9128" y="1755648"/>
            <a:ext cx="3941064" cy="228600"/>
          </a:xfrm>
          <a:prstGeom prst="rect">
            <a:avLst/>
          </a:prstGeom>
          <a:noFill/>
        </p:spPr>
        <p:txBody>
          <a:bodyPr wrap="square" anchor="t">
            <a:spAutoFit/>
          </a:bodyPr>
          <a:lstStyle/>
          <a:p>
            <a:pPr algn="l"/>
            <a:r>
              <a:rPr sz="1000" b="1" i="0">
                <a:solidFill>
                  <a:srgbClr val="E0823A"/>
                </a:solidFill>
                <a:latin typeface="Aptos Mono"/>
              </a:rPr>
              <a:t>SCREENSHOT PLACEHOLDER</a:t>
            </a:r>
          </a:p>
        </p:txBody>
      </p:sp>
      <p:sp>
        <p:nvSpPr>
          <p:cNvPr id="21" name="TextBox 20"/>
          <p:cNvSpPr txBox="1"/>
          <p:nvPr/>
        </p:nvSpPr>
        <p:spPr>
          <a:xfrm>
            <a:off x="6739128" y="2194560"/>
            <a:ext cx="3941064" cy="731520"/>
          </a:xfrm>
          <a:prstGeom prst="rect">
            <a:avLst/>
          </a:prstGeom>
          <a:noFill/>
        </p:spPr>
        <p:txBody>
          <a:bodyPr wrap="square" anchor="t">
            <a:spAutoFit/>
          </a:bodyPr>
          <a:lstStyle/>
          <a:p>
            <a:pPr algn="l"/>
            <a:r>
              <a:rPr sz="1800" b="1" i="0">
                <a:solidFill>
                  <a:srgbClr val="F2ECE0"/>
                </a:solidFill>
                <a:latin typeface="Aptos Display"/>
              </a:rPr>
              <a:t>Dashboard or landing state</a:t>
            </a:r>
          </a:p>
        </p:txBody>
      </p:sp>
      <p:sp>
        <p:nvSpPr>
          <p:cNvPr id="22" name="TextBox 21"/>
          <p:cNvSpPr txBox="1"/>
          <p:nvPr/>
        </p:nvSpPr>
        <p:spPr>
          <a:xfrm>
            <a:off x="6739128" y="2724912"/>
            <a:ext cx="3941064" cy="2240280"/>
          </a:xfrm>
          <a:prstGeom prst="rect">
            <a:avLst/>
          </a:prstGeom>
          <a:noFill/>
        </p:spPr>
        <p:txBody>
          <a:bodyPr wrap="square" anchor="t">
            <a:spAutoFit/>
          </a:bodyPr>
          <a:lstStyle/>
          <a:p>
            <a:pPr algn="l"/>
            <a:r>
              <a:rPr sz="1300" b="0" i="0">
                <a:solidFill>
                  <a:srgbClr val="B0AA9E"/>
                </a:solidFill>
                <a:latin typeface="Aptos"/>
              </a:rPr>
              <a:t>Replace this frame with a real product capture. The layout is already sized for a premium UI screenshot.</a:t>
            </a:r>
          </a:p>
        </p:txBody>
      </p:sp>
      <p:sp>
        <p:nvSpPr>
          <p:cNvPr id="23" name="Rounded Rectangle 22"/>
          <p:cNvSpPr/>
          <p:nvPr/>
        </p:nvSpPr>
        <p:spPr>
          <a:xfrm>
            <a:off x="640080" y="2788920"/>
            <a:ext cx="2331720" cy="987552"/>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2880360"/>
            <a:ext cx="822960" cy="457200"/>
          </a:xfrm>
          <a:prstGeom prst="rect">
            <a:avLst/>
          </a:prstGeom>
          <a:noFill/>
        </p:spPr>
        <p:txBody>
          <a:bodyPr wrap="square" anchor="t">
            <a:spAutoFit/>
          </a:bodyPr>
          <a:lstStyle/>
          <a:p>
            <a:pPr algn="l"/>
            <a:r>
              <a:rPr sz="2600" b="1" i="0">
                <a:solidFill>
                  <a:srgbClr val="E0823A"/>
                </a:solidFill>
                <a:latin typeface="Aptos Display"/>
              </a:rPr>
              <a:t>4</a:t>
            </a:r>
          </a:p>
        </p:txBody>
      </p:sp>
      <p:sp>
        <p:nvSpPr>
          <p:cNvPr id="25" name="TextBox 24"/>
          <p:cNvSpPr txBox="1"/>
          <p:nvPr/>
        </p:nvSpPr>
        <p:spPr>
          <a:xfrm>
            <a:off x="1600200" y="2953512"/>
            <a:ext cx="1097280" cy="365760"/>
          </a:xfrm>
          <a:prstGeom prst="rect">
            <a:avLst/>
          </a:prstGeom>
          <a:noFill/>
        </p:spPr>
        <p:txBody>
          <a:bodyPr wrap="square" anchor="t">
            <a:spAutoFit/>
          </a:bodyPr>
          <a:lstStyle/>
          <a:p>
            <a:pPr algn="l"/>
            <a:r>
              <a:rPr sz="1400" b="0" i="0">
                <a:solidFill>
                  <a:srgbClr val="F2ECE0"/>
                </a:solidFill>
                <a:latin typeface="Aptos"/>
              </a:rPr>
              <a:t>career paths</a:t>
            </a:r>
          </a:p>
        </p:txBody>
      </p:sp>
      <p:sp>
        <p:nvSpPr>
          <p:cNvPr id="26" name="Rounded Rectangle 25"/>
          <p:cNvSpPr/>
          <p:nvPr/>
        </p:nvSpPr>
        <p:spPr>
          <a:xfrm>
            <a:off x="3337560" y="2788920"/>
            <a:ext cx="2331720" cy="987552"/>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2880360"/>
            <a:ext cx="822960" cy="457200"/>
          </a:xfrm>
          <a:prstGeom prst="rect">
            <a:avLst/>
          </a:prstGeom>
          <a:noFill/>
        </p:spPr>
        <p:txBody>
          <a:bodyPr wrap="square" anchor="t">
            <a:spAutoFit/>
          </a:bodyPr>
          <a:lstStyle/>
          <a:p>
            <a:pPr algn="l"/>
            <a:r>
              <a:rPr sz="2600" b="1" i="0">
                <a:solidFill>
                  <a:srgbClr val="E0823A"/>
                </a:solidFill>
                <a:latin typeface="Aptos Display"/>
              </a:rPr>
              <a:t>8</a:t>
            </a:r>
          </a:p>
        </p:txBody>
      </p:sp>
      <p:sp>
        <p:nvSpPr>
          <p:cNvPr id="28" name="TextBox 27"/>
          <p:cNvSpPr txBox="1"/>
          <p:nvPr/>
        </p:nvSpPr>
        <p:spPr>
          <a:xfrm>
            <a:off x="4297680" y="2953512"/>
            <a:ext cx="1097280" cy="365760"/>
          </a:xfrm>
          <a:prstGeom prst="rect">
            <a:avLst/>
          </a:prstGeom>
          <a:noFill/>
        </p:spPr>
        <p:txBody>
          <a:bodyPr wrap="square" anchor="t">
            <a:spAutoFit/>
          </a:bodyPr>
          <a:lstStyle/>
          <a:p>
            <a:pPr algn="l"/>
            <a:r>
              <a:rPr sz="1400" b="0" i="0">
                <a:solidFill>
                  <a:srgbClr val="F2ECE0"/>
                </a:solidFill>
                <a:latin typeface="Aptos"/>
              </a:rPr>
              <a:t>learner-facing features</a:t>
            </a:r>
          </a:p>
        </p:txBody>
      </p:sp>
      <p:sp>
        <p:nvSpPr>
          <p:cNvPr id="29" name="Rounded Rectangle 28"/>
          <p:cNvSpPr/>
          <p:nvPr/>
        </p:nvSpPr>
        <p:spPr>
          <a:xfrm>
            <a:off x="640080" y="4114800"/>
            <a:ext cx="2331720" cy="987552"/>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206240"/>
            <a:ext cx="822960" cy="457200"/>
          </a:xfrm>
          <a:prstGeom prst="rect">
            <a:avLst/>
          </a:prstGeom>
          <a:noFill/>
        </p:spPr>
        <p:txBody>
          <a:bodyPr wrap="square" anchor="t">
            <a:spAutoFit/>
          </a:bodyPr>
          <a:lstStyle/>
          <a:p>
            <a:pPr algn="l"/>
            <a:r>
              <a:rPr sz="2600" b="1" i="0">
                <a:solidFill>
                  <a:srgbClr val="E0823A"/>
                </a:solidFill>
                <a:latin typeface="Aptos Display"/>
              </a:rPr>
              <a:t>2</a:t>
            </a:r>
          </a:p>
        </p:txBody>
      </p:sp>
      <p:sp>
        <p:nvSpPr>
          <p:cNvPr id="31" name="TextBox 30"/>
          <p:cNvSpPr txBox="1"/>
          <p:nvPr/>
        </p:nvSpPr>
        <p:spPr>
          <a:xfrm>
            <a:off x="1600200" y="4279392"/>
            <a:ext cx="1097280" cy="365760"/>
          </a:xfrm>
          <a:prstGeom prst="rect">
            <a:avLst/>
          </a:prstGeom>
          <a:noFill/>
        </p:spPr>
        <p:txBody>
          <a:bodyPr wrap="square" anchor="t">
            <a:spAutoFit/>
          </a:bodyPr>
          <a:lstStyle/>
          <a:p>
            <a:pPr algn="l"/>
            <a:r>
              <a:rPr sz="1400" b="0" i="0">
                <a:solidFill>
                  <a:srgbClr val="F2ECE0"/>
                </a:solidFill>
                <a:latin typeface="Aptos"/>
              </a:rPr>
              <a:t>languages</a:t>
            </a:r>
          </a:p>
        </p:txBody>
      </p:sp>
      <p:sp>
        <p:nvSpPr>
          <p:cNvPr id="32" name="Rounded Rectangle 31"/>
          <p:cNvSpPr/>
          <p:nvPr/>
        </p:nvSpPr>
        <p:spPr>
          <a:xfrm>
            <a:off x="3337560" y="4114800"/>
            <a:ext cx="2331720" cy="987552"/>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0" y="4206240"/>
            <a:ext cx="822960" cy="457200"/>
          </a:xfrm>
          <a:prstGeom prst="rect">
            <a:avLst/>
          </a:prstGeom>
          <a:noFill/>
        </p:spPr>
        <p:txBody>
          <a:bodyPr wrap="square" anchor="t">
            <a:spAutoFit/>
          </a:bodyPr>
          <a:lstStyle/>
          <a:p>
            <a:pPr algn="l"/>
            <a:r>
              <a:rPr sz="2600" b="1" i="0">
                <a:solidFill>
                  <a:srgbClr val="E0823A"/>
                </a:solidFill>
                <a:latin typeface="Aptos Display"/>
              </a:rPr>
              <a:t>1</a:t>
            </a:r>
          </a:p>
        </p:txBody>
      </p:sp>
      <p:sp>
        <p:nvSpPr>
          <p:cNvPr id="34" name="TextBox 33"/>
          <p:cNvSpPr txBox="1"/>
          <p:nvPr/>
        </p:nvSpPr>
        <p:spPr>
          <a:xfrm>
            <a:off x="4297680" y="4279392"/>
            <a:ext cx="1097280" cy="365760"/>
          </a:xfrm>
          <a:prstGeom prst="rect">
            <a:avLst/>
          </a:prstGeom>
          <a:noFill/>
        </p:spPr>
        <p:txBody>
          <a:bodyPr wrap="square" anchor="t">
            <a:spAutoFit/>
          </a:bodyPr>
          <a:lstStyle/>
          <a:p>
            <a:pPr algn="l"/>
            <a:r>
              <a:rPr sz="1400" b="0" i="0">
                <a:solidFill>
                  <a:srgbClr val="F2ECE0"/>
                </a:solidFill>
                <a:latin typeface="Aptos"/>
              </a:rPr>
              <a:t>admin control layer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13  DIFFERENTIATION</a:t>
            </a:r>
          </a:p>
        </p:txBody>
      </p:sp>
      <p:sp>
        <p:nvSpPr>
          <p:cNvPr id="17" name="TextBox 16"/>
          <p:cNvSpPr txBox="1"/>
          <p:nvPr/>
        </p:nvSpPr>
        <p:spPr>
          <a:xfrm>
            <a:off x="502920" y="841248"/>
            <a:ext cx="5577840" cy="1371600"/>
          </a:xfrm>
          <a:prstGeom prst="rect">
            <a:avLst/>
          </a:prstGeom>
          <a:noFill/>
        </p:spPr>
        <p:txBody>
          <a:bodyPr wrap="square" anchor="t">
            <a:spAutoFit/>
          </a:bodyPr>
          <a:lstStyle/>
          <a:p>
            <a:pPr algn="l"/>
            <a:r>
              <a:rPr sz="2800" b="1" i="0">
                <a:solidFill>
                  <a:srgbClr val="F2ECE0"/>
                </a:solidFill>
                <a:latin typeface="Aptos Display"/>
              </a:rPr>
              <a:t>Mallah closes the loop others leave open.</a:t>
            </a:r>
          </a:p>
        </p:txBody>
      </p:sp>
      <p:sp>
        <p:nvSpPr>
          <p:cNvPr id="18" name="TextBox 17"/>
          <p:cNvSpPr txBox="1"/>
          <p:nvPr/>
        </p:nvSpPr>
        <p:spPr>
          <a:xfrm>
            <a:off x="530352" y="1801368"/>
            <a:ext cx="5486400" cy="914400"/>
          </a:xfrm>
          <a:prstGeom prst="rect">
            <a:avLst/>
          </a:prstGeom>
          <a:noFill/>
        </p:spPr>
        <p:txBody>
          <a:bodyPr wrap="square" anchor="t">
            <a:spAutoFit/>
          </a:bodyPr>
          <a:lstStyle/>
          <a:p>
            <a:pPr algn="l"/>
            <a:r>
              <a:rPr sz="1600" b="0" i="0">
                <a:solidFill>
                  <a:srgbClr val="B0AA9E"/>
                </a:solidFill>
                <a:latin typeface="Aptos"/>
              </a:rPr>
              <a:t>Most tools solve one fragment. Mallah links decision-making, skill-building, evidence, job analysis, and tracking in a single learner workflow.</a:t>
            </a:r>
          </a:p>
        </p:txBody>
      </p:sp>
      <p:sp>
        <p:nvSpPr>
          <p:cNvPr id="19" name="TextBox 18"/>
          <p:cNvSpPr txBox="1"/>
          <p:nvPr/>
        </p:nvSpPr>
        <p:spPr>
          <a:xfrm>
            <a:off x="685800" y="2331720"/>
            <a:ext cx="2011680" cy="292608"/>
          </a:xfrm>
          <a:prstGeom prst="rect">
            <a:avLst/>
          </a:prstGeom>
          <a:noFill/>
        </p:spPr>
        <p:txBody>
          <a:bodyPr wrap="square" anchor="t">
            <a:spAutoFit/>
          </a:bodyPr>
          <a:lstStyle/>
          <a:p>
            <a:pPr algn="l"/>
            <a:r>
              <a:rPr sz="1000" b="1" i="0">
                <a:solidFill>
                  <a:srgbClr val="E0823A"/>
                </a:solidFill>
                <a:latin typeface="Aptos Mono"/>
              </a:rPr>
              <a:t>SYSTEM TYPE</a:t>
            </a:r>
          </a:p>
        </p:txBody>
      </p:sp>
      <p:sp>
        <p:nvSpPr>
          <p:cNvPr id="20" name="TextBox 19"/>
          <p:cNvSpPr txBox="1"/>
          <p:nvPr/>
        </p:nvSpPr>
        <p:spPr>
          <a:xfrm>
            <a:off x="3063240" y="2331720"/>
            <a:ext cx="3063240" cy="292608"/>
          </a:xfrm>
          <a:prstGeom prst="rect">
            <a:avLst/>
          </a:prstGeom>
          <a:noFill/>
        </p:spPr>
        <p:txBody>
          <a:bodyPr wrap="square" anchor="t">
            <a:spAutoFit/>
          </a:bodyPr>
          <a:lstStyle/>
          <a:p>
            <a:pPr algn="l"/>
            <a:r>
              <a:rPr sz="1000" b="1" i="0">
                <a:solidFill>
                  <a:srgbClr val="E0823A"/>
                </a:solidFill>
                <a:latin typeface="Aptos Mono"/>
              </a:rPr>
              <a:t>WHAT IT DOES WELL</a:t>
            </a:r>
          </a:p>
        </p:txBody>
      </p:sp>
      <p:sp>
        <p:nvSpPr>
          <p:cNvPr id="21" name="TextBox 20"/>
          <p:cNvSpPr txBox="1"/>
          <p:nvPr/>
        </p:nvSpPr>
        <p:spPr>
          <a:xfrm>
            <a:off x="6400800" y="2331720"/>
            <a:ext cx="4389120" cy="292608"/>
          </a:xfrm>
          <a:prstGeom prst="rect">
            <a:avLst/>
          </a:prstGeom>
          <a:noFill/>
        </p:spPr>
        <p:txBody>
          <a:bodyPr wrap="square" anchor="t">
            <a:spAutoFit/>
          </a:bodyPr>
          <a:lstStyle/>
          <a:p>
            <a:pPr algn="l"/>
            <a:r>
              <a:rPr sz="1000" b="1" i="0">
                <a:solidFill>
                  <a:srgbClr val="E0823A"/>
                </a:solidFill>
                <a:latin typeface="Aptos Mono"/>
              </a:rPr>
              <a:t>WHAT IT LEAVES OPEN</a:t>
            </a:r>
          </a:p>
        </p:txBody>
      </p:sp>
      <p:sp>
        <p:nvSpPr>
          <p:cNvPr id="22" name="Rectangle 21"/>
          <p:cNvSpPr/>
          <p:nvPr/>
        </p:nvSpPr>
        <p:spPr>
          <a:xfrm>
            <a:off x="594360" y="2743200"/>
            <a:ext cx="10607040" cy="56692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2852928"/>
            <a:ext cx="1828800" cy="228600"/>
          </a:xfrm>
          <a:prstGeom prst="rect">
            <a:avLst/>
          </a:prstGeom>
          <a:noFill/>
        </p:spPr>
        <p:txBody>
          <a:bodyPr wrap="square" anchor="t">
            <a:spAutoFit/>
          </a:bodyPr>
          <a:lstStyle/>
          <a:p>
            <a:pPr algn="l"/>
            <a:r>
              <a:rPr sz="1500" b="1" i="0">
                <a:solidFill>
                  <a:srgbClr val="F2ECE0"/>
                </a:solidFill>
                <a:latin typeface="Aptos"/>
              </a:rPr>
              <a:t>Learning Platform</a:t>
            </a:r>
          </a:p>
        </p:txBody>
      </p:sp>
      <p:sp>
        <p:nvSpPr>
          <p:cNvPr id="24" name="TextBox 23"/>
          <p:cNvSpPr txBox="1"/>
          <p:nvPr/>
        </p:nvSpPr>
        <p:spPr>
          <a:xfrm>
            <a:off x="3154680" y="2852928"/>
            <a:ext cx="2743200" cy="228600"/>
          </a:xfrm>
          <a:prstGeom prst="rect">
            <a:avLst/>
          </a:prstGeom>
          <a:noFill/>
        </p:spPr>
        <p:txBody>
          <a:bodyPr wrap="square" anchor="t">
            <a:spAutoFit/>
          </a:bodyPr>
          <a:lstStyle/>
          <a:p>
            <a:pPr algn="l"/>
            <a:r>
              <a:rPr sz="1400" b="0" i="0">
                <a:solidFill>
                  <a:srgbClr val="B0AA9E"/>
                </a:solidFill>
                <a:latin typeface="Aptos"/>
              </a:rPr>
              <a:t>Teaches content</a:t>
            </a:r>
          </a:p>
        </p:txBody>
      </p:sp>
      <p:sp>
        <p:nvSpPr>
          <p:cNvPr id="25" name="TextBox 24"/>
          <p:cNvSpPr txBox="1"/>
          <p:nvPr/>
        </p:nvSpPr>
        <p:spPr>
          <a:xfrm>
            <a:off x="6492240" y="2852928"/>
            <a:ext cx="4389120" cy="228600"/>
          </a:xfrm>
          <a:prstGeom prst="rect">
            <a:avLst/>
          </a:prstGeom>
          <a:noFill/>
        </p:spPr>
        <p:txBody>
          <a:bodyPr wrap="square" anchor="t">
            <a:spAutoFit/>
          </a:bodyPr>
          <a:lstStyle/>
          <a:p>
            <a:pPr algn="l"/>
            <a:r>
              <a:rPr sz="1400" b="0" i="0">
                <a:solidFill>
                  <a:srgbClr val="B0AA9E"/>
                </a:solidFill>
                <a:latin typeface="Aptos"/>
              </a:rPr>
              <a:t>Does not prove readiness</a:t>
            </a:r>
          </a:p>
        </p:txBody>
      </p:sp>
      <p:sp>
        <p:nvSpPr>
          <p:cNvPr id="26" name="Rectangle 25"/>
          <p:cNvSpPr/>
          <p:nvPr/>
        </p:nvSpPr>
        <p:spPr>
          <a:xfrm>
            <a:off x="594360" y="3493008"/>
            <a:ext cx="10607040" cy="56692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602736"/>
            <a:ext cx="1828800" cy="228600"/>
          </a:xfrm>
          <a:prstGeom prst="rect">
            <a:avLst/>
          </a:prstGeom>
          <a:noFill/>
        </p:spPr>
        <p:txBody>
          <a:bodyPr wrap="square" anchor="t">
            <a:spAutoFit/>
          </a:bodyPr>
          <a:lstStyle/>
          <a:p>
            <a:pPr algn="l"/>
            <a:r>
              <a:rPr sz="1500" b="1" i="0">
                <a:solidFill>
                  <a:srgbClr val="F2ECE0"/>
                </a:solidFill>
                <a:latin typeface="Aptos"/>
              </a:rPr>
              <a:t>Resume Scanner</a:t>
            </a:r>
          </a:p>
        </p:txBody>
      </p:sp>
      <p:sp>
        <p:nvSpPr>
          <p:cNvPr id="28" name="TextBox 27"/>
          <p:cNvSpPr txBox="1"/>
          <p:nvPr/>
        </p:nvSpPr>
        <p:spPr>
          <a:xfrm>
            <a:off x="3154680" y="3602736"/>
            <a:ext cx="2743200" cy="228600"/>
          </a:xfrm>
          <a:prstGeom prst="rect">
            <a:avLst/>
          </a:prstGeom>
          <a:noFill/>
        </p:spPr>
        <p:txBody>
          <a:bodyPr wrap="square" anchor="t">
            <a:spAutoFit/>
          </a:bodyPr>
          <a:lstStyle/>
          <a:p>
            <a:pPr algn="l"/>
            <a:r>
              <a:rPr sz="1400" b="0" i="0">
                <a:solidFill>
                  <a:srgbClr val="B0AA9E"/>
                </a:solidFill>
                <a:latin typeface="Aptos"/>
              </a:rPr>
              <a:t>Optimizes keywords</a:t>
            </a:r>
          </a:p>
        </p:txBody>
      </p:sp>
      <p:sp>
        <p:nvSpPr>
          <p:cNvPr id="29" name="TextBox 28"/>
          <p:cNvSpPr txBox="1"/>
          <p:nvPr/>
        </p:nvSpPr>
        <p:spPr>
          <a:xfrm>
            <a:off x="6492240" y="3602736"/>
            <a:ext cx="4389120" cy="228600"/>
          </a:xfrm>
          <a:prstGeom prst="rect">
            <a:avLst/>
          </a:prstGeom>
          <a:noFill/>
        </p:spPr>
        <p:txBody>
          <a:bodyPr wrap="square" anchor="t">
            <a:spAutoFit/>
          </a:bodyPr>
          <a:lstStyle/>
          <a:p>
            <a:pPr algn="l"/>
            <a:r>
              <a:rPr sz="1400" b="0" i="0">
                <a:solidFill>
                  <a:srgbClr val="B0AA9E"/>
                </a:solidFill>
                <a:latin typeface="Aptos"/>
              </a:rPr>
              <a:t>Does not guide learning</a:t>
            </a:r>
          </a:p>
        </p:txBody>
      </p:sp>
      <p:sp>
        <p:nvSpPr>
          <p:cNvPr id="30" name="Rectangle 29"/>
          <p:cNvSpPr/>
          <p:nvPr/>
        </p:nvSpPr>
        <p:spPr>
          <a:xfrm>
            <a:off x="594360" y="4242816"/>
            <a:ext cx="10607040" cy="566928"/>
          </a:xfrm>
          <a:prstGeom prst="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352544"/>
            <a:ext cx="1828800" cy="228600"/>
          </a:xfrm>
          <a:prstGeom prst="rect">
            <a:avLst/>
          </a:prstGeom>
          <a:noFill/>
        </p:spPr>
        <p:txBody>
          <a:bodyPr wrap="square" anchor="t">
            <a:spAutoFit/>
          </a:bodyPr>
          <a:lstStyle/>
          <a:p>
            <a:pPr algn="l"/>
            <a:r>
              <a:rPr sz="1500" b="1" i="0">
                <a:solidFill>
                  <a:srgbClr val="F2ECE0"/>
                </a:solidFill>
                <a:latin typeface="Aptos"/>
              </a:rPr>
              <a:t>Job Tracker</a:t>
            </a:r>
          </a:p>
        </p:txBody>
      </p:sp>
      <p:sp>
        <p:nvSpPr>
          <p:cNvPr id="32" name="TextBox 31"/>
          <p:cNvSpPr txBox="1"/>
          <p:nvPr/>
        </p:nvSpPr>
        <p:spPr>
          <a:xfrm>
            <a:off x="3154680" y="4352544"/>
            <a:ext cx="2743200" cy="228600"/>
          </a:xfrm>
          <a:prstGeom prst="rect">
            <a:avLst/>
          </a:prstGeom>
          <a:noFill/>
        </p:spPr>
        <p:txBody>
          <a:bodyPr wrap="square" anchor="t">
            <a:spAutoFit/>
          </a:bodyPr>
          <a:lstStyle/>
          <a:p>
            <a:pPr algn="l"/>
            <a:r>
              <a:rPr sz="1400" b="0" i="0">
                <a:solidFill>
                  <a:srgbClr val="B0AA9E"/>
                </a:solidFill>
                <a:latin typeface="Aptos"/>
              </a:rPr>
              <a:t>Tracks applications</a:t>
            </a:r>
          </a:p>
        </p:txBody>
      </p:sp>
      <p:sp>
        <p:nvSpPr>
          <p:cNvPr id="33" name="TextBox 32"/>
          <p:cNvSpPr txBox="1"/>
          <p:nvPr/>
        </p:nvSpPr>
        <p:spPr>
          <a:xfrm>
            <a:off x="6492240" y="4352544"/>
            <a:ext cx="4389120" cy="228600"/>
          </a:xfrm>
          <a:prstGeom prst="rect">
            <a:avLst/>
          </a:prstGeom>
          <a:noFill/>
        </p:spPr>
        <p:txBody>
          <a:bodyPr wrap="square" anchor="t">
            <a:spAutoFit/>
          </a:bodyPr>
          <a:lstStyle/>
          <a:p>
            <a:pPr algn="l"/>
            <a:r>
              <a:rPr sz="1400" b="0" i="0">
                <a:solidFill>
                  <a:srgbClr val="B0AA9E"/>
                </a:solidFill>
                <a:latin typeface="Aptos"/>
              </a:rPr>
              <a:t>Does not build missing capability</a:t>
            </a:r>
          </a:p>
        </p:txBody>
      </p:sp>
      <p:sp>
        <p:nvSpPr>
          <p:cNvPr id="34" name="Rectangle 33"/>
          <p:cNvSpPr/>
          <p:nvPr/>
        </p:nvSpPr>
        <p:spPr>
          <a:xfrm>
            <a:off x="594360" y="4992624"/>
            <a:ext cx="10607040" cy="566928"/>
          </a:xfrm>
          <a:prstGeom prst="rect">
            <a:avLst/>
          </a:prstGeom>
          <a:solidFill>
            <a:srgbClr val="1E2227"/>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102352"/>
            <a:ext cx="1828800" cy="228600"/>
          </a:xfrm>
          <a:prstGeom prst="rect">
            <a:avLst/>
          </a:prstGeom>
          <a:noFill/>
        </p:spPr>
        <p:txBody>
          <a:bodyPr wrap="square" anchor="t">
            <a:spAutoFit/>
          </a:bodyPr>
          <a:lstStyle/>
          <a:p>
            <a:pPr algn="l"/>
            <a:r>
              <a:rPr sz="1500" b="1" i="0">
                <a:solidFill>
                  <a:srgbClr val="E0823A"/>
                </a:solidFill>
                <a:latin typeface="Aptos"/>
              </a:rPr>
              <a:t>Mallah</a:t>
            </a:r>
          </a:p>
        </p:txBody>
      </p:sp>
      <p:sp>
        <p:nvSpPr>
          <p:cNvPr id="36" name="TextBox 35"/>
          <p:cNvSpPr txBox="1"/>
          <p:nvPr/>
        </p:nvSpPr>
        <p:spPr>
          <a:xfrm>
            <a:off x="3154680" y="5102352"/>
            <a:ext cx="2743200" cy="228600"/>
          </a:xfrm>
          <a:prstGeom prst="rect">
            <a:avLst/>
          </a:prstGeom>
          <a:noFill/>
        </p:spPr>
        <p:txBody>
          <a:bodyPr wrap="square" anchor="t">
            <a:spAutoFit/>
          </a:bodyPr>
          <a:lstStyle/>
          <a:p>
            <a:pPr algn="l"/>
            <a:r>
              <a:rPr sz="1400" b="0" i="0">
                <a:solidFill>
                  <a:srgbClr val="F2ECE0"/>
                </a:solidFill>
                <a:latin typeface="Aptos"/>
              </a:rPr>
              <a:t>Connects all four</a:t>
            </a:r>
          </a:p>
        </p:txBody>
      </p:sp>
      <p:sp>
        <p:nvSpPr>
          <p:cNvPr id="37" name="TextBox 36"/>
          <p:cNvSpPr txBox="1"/>
          <p:nvPr/>
        </p:nvSpPr>
        <p:spPr>
          <a:xfrm>
            <a:off x="6492240" y="5102352"/>
            <a:ext cx="4389120" cy="228600"/>
          </a:xfrm>
          <a:prstGeom prst="rect">
            <a:avLst/>
          </a:prstGeom>
          <a:noFill/>
        </p:spPr>
        <p:txBody>
          <a:bodyPr wrap="square" anchor="t">
            <a:spAutoFit/>
          </a:bodyPr>
          <a:lstStyle/>
          <a:p>
            <a:pPr algn="l"/>
            <a:r>
              <a:rPr sz="1400" b="0" i="0">
                <a:solidFill>
                  <a:srgbClr val="4FB88D"/>
                </a:solidFill>
                <a:latin typeface="Aptos"/>
              </a:rPr>
              <a:t>Turns gaps into 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14  CLOSING</a:t>
            </a:r>
          </a:p>
        </p:txBody>
      </p:sp>
      <p:sp>
        <p:nvSpPr>
          <p:cNvPr id="17" name="TextBox 16"/>
          <p:cNvSpPr txBox="1"/>
          <p:nvPr/>
        </p:nvSpPr>
        <p:spPr>
          <a:xfrm>
            <a:off x="640080" y="1097280"/>
            <a:ext cx="5669280" cy="1188720"/>
          </a:xfrm>
          <a:prstGeom prst="rect">
            <a:avLst/>
          </a:prstGeom>
          <a:noFill/>
        </p:spPr>
        <p:txBody>
          <a:bodyPr wrap="square" anchor="t">
            <a:spAutoFit/>
          </a:bodyPr>
          <a:lstStyle/>
          <a:p>
            <a:pPr algn="l"/>
            <a:r>
              <a:rPr sz="3000" b="1" i="0">
                <a:solidFill>
                  <a:srgbClr val="F2ECE0"/>
                </a:solidFill>
                <a:latin typeface="Aptos Display"/>
              </a:rPr>
              <a:t>From confusion to clearer readiness.</a:t>
            </a:r>
          </a:p>
        </p:txBody>
      </p:sp>
      <p:sp>
        <p:nvSpPr>
          <p:cNvPr id="18" name="TextBox 17"/>
          <p:cNvSpPr txBox="1"/>
          <p:nvPr/>
        </p:nvSpPr>
        <p:spPr>
          <a:xfrm>
            <a:off x="667512" y="2148840"/>
            <a:ext cx="5394960" cy="1005840"/>
          </a:xfrm>
          <a:prstGeom prst="rect">
            <a:avLst/>
          </a:prstGeom>
          <a:noFill/>
        </p:spPr>
        <p:txBody>
          <a:bodyPr wrap="square" anchor="t">
            <a:spAutoFit/>
          </a:bodyPr>
          <a:lstStyle/>
          <a:p>
            <a:pPr algn="l"/>
            <a:r>
              <a:rPr sz="1600" b="0" i="0">
                <a:solidFill>
                  <a:srgbClr val="B0AA9E"/>
                </a:solidFill>
                <a:latin typeface="Aptos"/>
              </a:rPr>
              <a:t>Mallah gives beginners structure, evidence, and a more honest view of what to learn next, what they can already prove, and when they are ready to move.</a:t>
            </a:r>
          </a:p>
        </p:txBody>
      </p:sp>
      <p:sp>
        <p:nvSpPr>
          <p:cNvPr id="19" name="TextBox 18"/>
          <p:cNvSpPr txBox="1"/>
          <p:nvPr/>
        </p:nvSpPr>
        <p:spPr>
          <a:xfrm>
            <a:off x="749808" y="3246120"/>
            <a:ext cx="274320" cy="228600"/>
          </a:xfrm>
          <a:prstGeom prst="rect">
            <a:avLst/>
          </a:prstGeom>
          <a:noFill/>
        </p:spPr>
        <p:txBody>
          <a:bodyPr wrap="square" anchor="t">
            <a:spAutoFit/>
          </a:bodyPr>
          <a:lstStyle/>
          <a:p>
            <a:pPr algn="l"/>
            <a:r>
              <a:rPr sz="1400" b="1" i="0">
                <a:solidFill>
                  <a:srgbClr val="E0823A"/>
                </a:solidFill>
                <a:latin typeface="Aptos"/>
              </a:rPr>
              <a:t>◈</a:t>
            </a:r>
          </a:p>
        </p:txBody>
      </p:sp>
      <p:sp>
        <p:nvSpPr>
          <p:cNvPr id="20" name="TextBox 19"/>
          <p:cNvSpPr txBox="1"/>
          <p:nvPr/>
        </p:nvSpPr>
        <p:spPr>
          <a:xfrm>
            <a:off x="1051560" y="3227832"/>
            <a:ext cx="4206240" cy="274320"/>
          </a:xfrm>
          <a:prstGeom prst="rect">
            <a:avLst/>
          </a:prstGeom>
          <a:noFill/>
        </p:spPr>
        <p:txBody>
          <a:bodyPr wrap="square" anchor="t">
            <a:spAutoFit/>
          </a:bodyPr>
          <a:lstStyle/>
          <a:p>
            <a:pPr algn="l"/>
            <a:r>
              <a:rPr sz="1800" b="1" i="0">
                <a:solidFill>
                  <a:srgbClr val="F2ECE0"/>
                </a:solidFill>
                <a:latin typeface="Aptos"/>
              </a:rPr>
              <a:t>Clearer starting point</a:t>
            </a:r>
          </a:p>
        </p:txBody>
      </p:sp>
      <p:sp>
        <p:nvSpPr>
          <p:cNvPr id="21" name="TextBox 20"/>
          <p:cNvSpPr txBox="1"/>
          <p:nvPr/>
        </p:nvSpPr>
        <p:spPr>
          <a:xfrm>
            <a:off x="749808" y="3840480"/>
            <a:ext cx="274320" cy="228600"/>
          </a:xfrm>
          <a:prstGeom prst="rect">
            <a:avLst/>
          </a:prstGeom>
          <a:noFill/>
        </p:spPr>
        <p:txBody>
          <a:bodyPr wrap="square" anchor="t">
            <a:spAutoFit/>
          </a:bodyPr>
          <a:lstStyle/>
          <a:p>
            <a:pPr algn="l"/>
            <a:r>
              <a:rPr sz="1400" b="1" i="0">
                <a:solidFill>
                  <a:srgbClr val="E0823A"/>
                </a:solidFill>
                <a:latin typeface="Aptos"/>
              </a:rPr>
              <a:t>◈</a:t>
            </a:r>
          </a:p>
        </p:txBody>
      </p:sp>
      <p:sp>
        <p:nvSpPr>
          <p:cNvPr id="22" name="TextBox 21"/>
          <p:cNvSpPr txBox="1"/>
          <p:nvPr/>
        </p:nvSpPr>
        <p:spPr>
          <a:xfrm>
            <a:off x="1051560" y="3822192"/>
            <a:ext cx="4206240" cy="274320"/>
          </a:xfrm>
          <a:prstGeom prst="rect">
            <a:avLst/>
          </a:prstGeom>
          <a:noFill/>
        </p:spPr>
        <p:txBody>
          <a:bodyPr wrap="square" anchor="t">
            <a:spAutoFit/>
          </a:bodyPr>
          <a:lstStyle/>
          <a:p>
            <a:pPr algn="l"/>
            <a:r>
              <a:rPr sz="1800" b="1" i="0">
                <a:solidFill>
                  <a:srgbClr val="F2ECE0"/>
                </a:solidFill>
                <a:latin typeface="Aptos"/>
              </a:rPr>
              <a:t>Structured progression</a:t>
            </a:r>
          </a:p>
        </p:txBody>
      </p:sp>
      <p:sp>
        <p:nvSpPr>
          <p:cNvPr id="23" name="TextBox 22"/>
          <p:cNvSpPr txBox="1"/>
          <p:nvPr/>
        </p:nvSpPr>
        <p:spPr>
          <a:xfrm>
            <a:off x="749808" y="4434840"/>
            <a:ext cx="274320" cy="228600"/>
          </a:xfrm>
          <a:prstGeom prst="rect">
            <a:avLst/>
          </a:prstGeom>
          <a:noFill/>
        </p:spPr>
        <p:txBody>
          <a:bodyPr wrap="square" anchor="t">
            <a:spAutoFit/>
          </a:bodyPr>
          <a:lstStyle/>
          <a:p>
            <a:pPr algn="l"/>
            <a:r>
              <a:rPr sz="1400" b="1" i="0">
                <a:solidFill>
                  <a:srgbClr val="E0823A"/>
                </a:solidFill>
                <a:latin typeface="Aptos"/>
              </a:rPr>
              <a:t>◈</a:t>
            </a:r>
          </a:p>
        </p:txBody>
      </p:sp>
      <p:sp>
        <p:nvSpPr>
          <p:cNvPr id="24" name="TextBox 23"/>
          <p:cNvSpPr txBox="1"/>
          <p:nvPr/>
        </p:nvSpPr>
        <p:spPr>
          <a:xfrm>
            <a:off x="1051560" y="4416552"/>
            <a:ext cx="4206240" cy="274320"/>
          </a:xfrm>
          <a:prstGeom prst="rect">
            <a:avLst/>
          </a:prstGeom>
          <a:noFill/>
        </p:spPr>
        <p:txBody>
          <a:bodyPr wrap="square" anchor="t">
            <a:spAutoFit/>
          </a:bodyPr>
          <a:lstStyle/>
          <a:p>
            <a:pPr algn="l"/>
            <a:r>
              <a:rPr sz="1800" b="1" i="0">
                <a:solidFill>
                  <a:srgbClr val="F2ECE0"/>
                </a:solidFill>
                <a:latin typeface="Aptos"/>
              </a:rPr>
              <a:t>Real project evidence</a:t>
            </a:r>
          </a:p>
        </p:txBody>
      </p:sp>
      <p:sp>
        <p:nvSpPr>
          <p:cNvPr id="25" name="TextBox 24"/>
          <p:cNvSpPr txBox="1"/>
          <p:nvPr/>
        </p:nvSpPr>
        <p:spPr>
          <a:xfrm>
            <a:off x="749808" y="5029200"/>
            <a:ext cx="274320" cy="228600"/>
          </a:xfrm>
          <a:prstGeom prst="rect">
            <a:avLst/>
          </a:prstGeom>
          <a:noFill/>
        </p:spPr>
        <p:txBody>
          <a:bodyPr wrap="square" anchor="t">
            <a:spAutoFit/>
          </a:bodyPr>
          <a:lstStyle/>
          <a:p>
            <a:pPr algn="l"/>
            <a:r>
              <a:rPr sz="1400" b="1" i="0">
                <a:solidFill>
                  <a:srgbClr val="E0823A"/>
                </a:solidFill>
                <a:latin typeface="Aptos"/>
              </a:rPr>
              <a:t>◈</a:t>
            </a:r>
          </a:p>
        </p:txBody>
      </p:sp>
      <p:sp>
        <p:nvSpPr>
          <p:cNvPr id="26" name="TextBox 25"/>
          <p:cNvSpPr txBox="1"/>
          <p:nvPr/>
        </p:nvSpPr>
        <p:spPr>
          <a:xfrm>
            <a:off x="1051560" y="5010912"/>
            <a:ext cx="4206240" cy="274320"/>
          </a:xfrm>
          <a:prstGeom prst="rect">
            <a:avLst/>
          </a:prstGeom>
          <a:noFill/>
        </p:spPr>
        <p:txBody>
          <a:bodyPr wrap="square" anchor="t">
            <a:spAutoFit/>
          </a:bodyPr>
          <a:lstStyle/>
          <a:p>
            <a:pPr algn="l"/>
            <a:r>
              <a:rPr sz="1800" b="1" i="0">
                <a:solidFill>
                  <a:srgbClr val="F2ECE0"/>
                </a:solidFill>
                <a:latin typeface="Aptos"/>
              </a:rPr>
              <a:t>Better job-facing decisions</a:t>
            </a:r>
          </a:p>
        </p:txBody>
      </p:sp>
      <p:sp>
        <p:nvSpPr>
          <p:cNvPr id="27" name="Rounded Rectangle 26"/>
          <p:cNvSpPr/>
          <p:nvPr/>
        </p:nvSpPr>
        <p:spPr>
          <a:xfrm>
            <a:off x="6492240" y="1417320"/>
            <a:ext cx="4160520" cy="338328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1664208"/>
            <a:ext cx="3657600" cy="228600"/>
          </a:xfrm>
          <a:prstGeom prst="rect">
            <a:avLst/>
          </a:prstGeom>
          <a:noFill/>
        </p:spPr>
        <p:txBody>
          <a:bodyPr wrap="square" anchor="t">
            <a:spAutoFit/>
          </a:bodyPr>
          <a:lstStyle/>
          <a:p>
            <a:pPr algn="l"/>
            <a:r>
              <a:rPr sz="1000" b="1" i="0">
                <a:solidFill>
                  <a:srgbClr val="E0823A"/>
                </a:solidFill>
                <a:latin typeface="Aptos Mono"/>
              </a:rPr>
              <a:t>FINAL POSITION</a:t>
            </a:r>
          </a:p>
        </p:txBody>
      </p:sp>
      <p:sp>
        <p:nvSpPr>
          <p:cNvPr id="29" name="TextBox 28"/>
          <p:cNvSpPr txBox="1"/>
          <p:nvPr/>
        </p:nvSpPr>
        <p:spPr>
          <a:xfrm>
            <a:off x="6720840" y="2011680"/>
            <a:ext cx="3566160" cy="2011680"/>
          </a:xfrm>
          <a:prstGeom prst="rect">
            <a:avLst/>
          </a:prstGeom>
          <a:noFill/>
        </p:spPr>
        <p:txBody>
          <a:bodyPr wrap="square" anchor="t">
            <a:spAutoFit/>
          </a:bodyPr>
          <a:lstStyle/>
          <a:p>
            <a:pPr algn="l"/>
            <a:r>
              <a:rPr sz="2200" b="1" i="0">
                <a:solidFill>
                  <a:srgbClr val="F2ECE0"/>
                </a:solidFill>
                <a:latin typeface="Aptos Display"/>
              </a:rPr>
              <a:t>Mallah helps beginners stop guessing, start building, and approach opportunities with more proof and more clarity.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15  APPENDIX</a:t>
            </a:r>
          </a:p>
        </p:txBody>
      </p:sp>
      <p:sp>
        <p:nvSpPr>
          <p:cNvPr id="17" name="TextBox 16"/>
          <p:cNvSpPr txBox="1"/>
          <p:nvPr/>
        </p:nvSpPr>
        <p:spPr>
          <a:xfrm>
            <a:off x="502920" y="804672"/>
            <a:ext cx="5577840" cy="1371600"/>
          </a:xfrm>
          <a:prstGeom prst="rect">
            <a:avLst/>
          </a:prstGeom>
          <a:noFill/>
        </p:spPr>
        <p:txBody>
          <a:bodyPr wrap="square" anchor="t">
            <a:spAutoFit/>
          </a:bodyPr>
          <a:lstStyle/>
          <a:p>
            <a:pPr algn="l"/>
            <a:r>
              <a:rPr sz="2800" b="1" i="0">
                <a:solidFill>
                  <a:srgbClr val="F2ECE0"/>
                </a:solidFill>
                <a:latin typeface="Aptos Display"/>
              </a:rPr>
              <a:t>References</a:t>
            </a:r>
          </a:p>
        </p:txBody>
      </p:sp>
      <p:sp>
        <p:nvSpPr>
          <p:cNvPr id="18" name="TextBox 17"/>
          <p:cNvSpPr txBox="1"/>
          <p:nvPr/>
        </p:nvSpPr>
        <p:spPr>
          <a:xfrm>
            <a:off x="530352" y="1764792"/>
            <a:ext cx="5486400" cy="914400"/>
          </a:xfrm>
          <a:prstGeom prst="rect">
            <a:avLst/>
          </a:prstGeom>
          <a:noFill/>
        </p:spPr>
        <p:txBody>
          <a:bodyPr wrap="square" anchor="t">
            <a:spAutoFit/>
          </a:bodyPr>
          <a:lstStyle/>
          <a:p>
            <a:pPr algn="l"/>
            <a:r>
              <a:rPr sz="1600" b="0" i="0">
                <a:solidFill>
                  <a:srgbClr val="B0AA9E"/>
                </a:solidFill>
                <a:latin typeface="Aptos"/>
              </a:rPr>
              <a:t>Primary references preserved from the original proposal deck.</a:t>
            </a:r>
          </a:p>
        </p:txBody>
      </p:sp>
      <p:sp>
        <p:nvSpPr>
          <p:cNvPr id="19" name="TextBox 18"/>
          <p:cNvSpPr txBox="1"/>
          <p:nvPr/>
        </p:nvSpPr>
        <p:spPr>
          <a:xfrm>
            <a:off x="658368" y="2148840"/>
            <a:ext cx="10241280" cy="548640"/>
          </a:xfrm>
          <a:prstGeom prst="rect">
            <a:avLst/>
          </a:prstGeom>
          <a:noFill/>
        </p:spPr>
        <p:txBody>
          <a:bodyPr wrap="square" anchor="t">
            <a:spAutoFit/>
          </a:bodyPr>
          <a:lstStyle/>
          <a:p>
            <a:pPr algn="l"/>
            <a:r>
              <a:rPr sz="1100" b="0" i="0">
                <a:solidFill>
                  <a:srgbClr val="F2ECE0"/>
                </a:solidFill>
                <a:latin typeface="Aptos"/>
              </a:rPr>
              <a:t>[1] A. Burke, Digital Technologies in Career Guidance for Youth: Opportunities and
Challenges, OECD, 2024.</a:t>
            </a:r>
          </a:p>
        </p:txBody>
      </p:sp>
      <p:sp>
        <p:nvSpPr>
          <p:cNvPr id="20" name="TextBox 19"/>
          <p:cNvSpPr txBox="1"/>
          <p:nvPr/>
        </p:nvSpPr>
        <p:spPr>
          <a:xfrm>
            <a:off x="658368" y="2788920"/>
            <a:ext cx="10241280" cy="384048"/>
          </a:xfrm>
          <a:prstGeom prst="rect">
            <a:avLst/>
          </a:prstGeom>
          <a:noFill/>
        </p:spPr>
        <p:txBody>
          <a:bodyPr wrap="square" anchor="t">
            <a:spAutoFit/>
          </a:bodyPr>
          <a:lstStyle/>
          <a:p>
            <a:pPr algn="l"/>
            <a:r>
              <a:rPr sz="1100" b="0" i="0">
                <a:solidFill>
                  <a:srgbClr val="F2ECE0"/>
                </a:solidFill>
                <a:latin typeface="Aptos"/>
              </a:rPr>
              <a:t>[2] OECD, Observatory on Digital Technologies in Career Guidance for Youth (ODiCY), 2024.</a:t>
            </a:r>
          </a:p>
        </p:txBody>
      </p:sp>
      <p:sp>
        <p:nvSpPr>
          <p:cNvPr id="21" name="TextBox 20"/>
          <p:cNvSpPr txBox="1"/>
          <p:nvPr/>
        </p:nvSpPr>
        <p:spPr>
          <a:xfrm>
            <a:off x="658368" y="3264408"/>
            <a:ext cx="10241280" cy="713232"/>
          </a:xfrm>
          <a:prstGeom prst="rect">
            <a:avLst/>
          </a:prstGeom>
          <a:noFill/>
        </p:spPr>
        <p:txBody>
          <a:bodyPr wrap="square" anchor="t">
            <a:spAutoFit/>
          </a:bodyPr>
          <a:lstStyle/>
          <a:p>
            <a:pPr algn="l"/>
            <a:r>
              <a:rPr sz="1100" b="0" i="0">
                <a:solidFill>
                  <a:srgbClr val="F2ECE0"/>
                </a:solidFill>
                <a:latin typeface="Aptos"/>
              </a:rPr>
              <a:t>[3] S. Bankins and S. Formosa, Navigating career stages in the age of artificial
intelligence: A systematic interdisciplinary review and agenda for future research, Business
Horizons, 2024.</a:t>
            </a:r>
          </a:p>
        </p:txBody>
      </p:sp>
      <p:sp>
        <p:nvSpPr>
          <p:cNvPr id="22" name="TextBox 21"/>
          <p:cNvSpPr txBox="1"/>
          <p:nvPr/>
        </p:nvSpPr>
        <p:spPr>
          <a:xfrm>
            <a:off x="658368" y="4069080"/>
            <a:ext cx="10241280" cy="548640"/>
          </a:xfrm>
          <a:prstGeom prst="rect">
            <a:avLst/>
          </a:prstGeom>
          <a:noFill/>
        </p:spPr>
        <p:txBody>
          <a:bodyPr wrap="square" anchor="t">
            <a:spAutoFit/>
          </a:bodyPr>
          <a:lstStyle/>
          <a:p>
            <a:pPr algn="l"/>
            <a:r>
              <a:rPr sz="1100" b="0" i="0">
                <a:solidFill>
                  <a:srgbClr val="F2ECE0"/>
                </a:solidFill>
                <a:latin typeface="Aptos"/>
              </a:rPr>
              <a:t>[4] R. Buchanan, Exploring the Role of AI in Career Access Through a Social Justice Lens,
Nordic Journal of Transitions, Careers and Guidance, 2025.</a:t>
            </a:r>
          </a:p>
        </p:txBody>
      </p:sp>
      <p:sp>
        <p:nvSpPr>
          <p:cNvPr id="23" name="TextBox 22"/>
          <p:cNvSpPr txBox="1"/>
          <p:nvPr/>
        </p:nvSpPr>
        <p:spPr>
          <a:xfrm>
            <a:off x="658368" y="4709160"/>
            <a:ext cx="10241280" cy="384048"/>
          </a:xfrm>
          <a:prstGeom prst="rect">
            <a:avLst/>
          </a:prstGeom>
          <a:noFill/>
        </p:spPr>
        <p:txBody>
          <a:bodyPr wrap="square" anchor="t">
            <a:spAutoFit/>
          </a:bodyPr>
          <a:lstStyle/>
          <a:p>
            <a:pPr algn="l"/>
            <a:r>
              <a:rPr sz="1100" b="0" i="0">
                <a:solidFill>
                  <a:srgbClr val="B0AA9E"/>
                </a:solidFill>
                <a:latin typeface="Aptos"/>
              </a:rPr>
              <a:t>[5] Kingdom of Saudi Arabia, Saudi Vision 2030, 2025.</a:t>
            </a:r>
          </a:p>
        </p:txBody>
      </p:sp>
      <p:sp>
        <p:nvSpPr>
          <p:cNvPr id="24" name="TextBox 23"/>
          <p:cNvSpPr txBox="1"/>
          <p:nvPr/>
        </p:nvSpPr>
        <p:spPr>
          <a:xfrm>
            <a:off x="658368" y="5184648"/>
            <a:ext cx="10241280" cy="384048"/>
          </a:xfrm>
          <a:prstGeom prst="rect">
            <a:avLst/>
          </a:prstGeom>
          <a:noFill/>
        </p:spPr>
        <p:txBody>
          <a:bodyPr wrap="square" anchor="t">
            <a:spAutoFit/>
          </a:bodyPr>
          <a:lstStyle/>
          <a:p>
            <a:pPr algn="l"/>
            <a:r>
              <a:rPr sz="1100" b="0" i="0">
                <a:solidFill>
                  <a:srgbClr val="B0AA9E"/>
                </a:solidFill>
                <a:latin typeface="Aptos"/>
              </a:rPr>
              <a:t>[6] Vision 2030, Human Capability Development Program, 2025.</a:t>
            </a:r>
          </a:p>
        </p:txBody>
      </p:sp>
      <p:sp>
        <p:nvSpPr>
          <p:cNvPr id="25" name="TextBox 24"/>
          <p:cNvSpPr txBox="1"/>
          <p:nvPr/>
        </p:nvSpPr>
        <p:spPr>
          <a:xfrm>
            <a:off x="658368" y="5660136"/>
            <a:ext cx="10241280" cy="384048"/>
          </a:xfrm>
          <a:prstGeom prst="rect">
            <a:avLst/>
          </a:prstGeom>
          <a:noFill/>
        </p:spPr>
        <p:txBody>
          <a:bodyPr wrap="square" anchor="t">
            <a:spAutoFit/>
          </a:bodyPr>
          <a:lstStyle/>
          <a:p>
            <a:pPr algn="l"/>
            <a:r>
              <a:rPr sz="1100" b="0" i="0">
                <a:solidFill>
                  <a:srgbClr val="B0AA9E"/>
                </a:solidFill>
                <a:latin typeface="Aptos"/>
              </a:rPr>
              <a:t>[7] MCIT, Digital Economy Policy in the Kingdom of Saudi Arabia, 2020.</a:t>
            </a:r>
          </a:p>
        </p:txBody>
      </p:sp>
      <p:sp>
        <p:nvSpPr>
          <p:cNvPr id="26" name="TextBox 25"/>
          <p:cNvSpPr txBox="1"/>
          <p:nvPr/>
        </p:nvSpPr>
        <p:spPr>
          <a:xfrm>
            <a:off x="658368" y="6135623"/>
            <a:ext cx="10241280" cy="548640"/>
          </a:xfrm>
          <a:prstGeom prst="rect">
            <a:avLst/>
          </a:prstGeom>
          <a:noFill/>
        </p:spPr>
        <p:txBody>
          <a:bodyPr wrap="square" anchor="t">
            <a:spAutoFit/>
          </a:bodyPr>
          <a:lstStyle/>
          <a:p>
            <a:pPr algn="l"/>
            <a:r>
              <a:rPr sz="1100" b="0" i="0">
                <a:solidFill>
                  <a:srgbClr val="B0AA9E"/>
                </a:solidFill>
                <a:latin typeface="Aptos"/>
              </a:rPr>
              <a:t>[8] Digital Government Authority (DGA), Digital Transformation Strategies Across Saudi
Arabia, v1.0, 2024.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41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E08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320040"/>
            <a:ext cx="11612880" cy="18288"/>
          </a:xfrm>
          <a:prstGeom prst="rect">
            <a:avLst/>
          </a:prstGeom>
          <a:solidFill>
            <a:srgbClr val="3E4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457200"/>
            <a:ext cx="9144" cy="5943600"/>
          </a:xfrm>
          <a:prstGeom prst="rect">
            <a:avLst/>
          </a:prstGeom>
          <a:solidFill>
            <a:srgbClr val="1C1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11480"/>
            <a:ext cx="2286000" cy="320040"/>
          </a:xfrm>
          <a:prstGeom prst="rect">
            <a:avLst/>
          </a:prstGeom>
          <a:noFill/>
        </p:spPr>
        <p:txBody>
          <a:bodyPr wrap="square" anchor="t">
            <a:spAutoFit/>
          </a:bodyPr>
          <a:lstStyle/>
          <a:p>
            <a:pPr algn="l"/>
            <a:r>
              <a:rPr sz="1100" b="1" i="0">
                <a:solidFill>
                  <a:srgbClr val="E0823A"/>
                </a:solidFill>
                <a:latin typeface="Aptos Mono"/>
              </a:rPr>
              <a:t>16  APPENDIX</a:t>
            </a:r>
          </a:p>
        </p:txBody>
      </p:sp>
      <p:sp>
        <p:nvSpPr>
          <p:cNvPr id="17" name="TextBox 16"/>
          <p:cNvSpPr txBox="1"/>
          <p:nvPr/>
        </p:nvSpPr>
        <p:spPr>
          <a:xfrm>
            <a:off x="658368" y="1508760"/>
            <a:ext cx="5486400" cy="914400"/>
          </a:xfrm>
          <a:prstGeom prst="rect">
            <a:avLst/>
          </a:prstGeom>
          <a:noFill/>
        </p:spPr>
        <p:txBody>
          <a:bodyPr wrap="square" anchor="t">
            <a:spAutoFit/>
          </a:bodyPr>
          <a:lstStyle/>
          <a:p>
            <a:pPr algn="l"/>
            <a:r>
              <a:rPr sz="3400" b="1" i="0">
                <a:solidFill>
                  <a:srgbClr val="F2ECE0"/>
                </a:solidFill>
                <a:latin typeface="Aptos Display"/>
              </a:rPr>
              <a:t>Questions?</a:t>
            </a:r>
          </a:p>
        </p:txBody>
      </p:sp>
      <p:sp>
        <p:nvSpPr>
          <p:cNvPr id="18" name="TextBox 17"/>
          <p:cNvSpPr txBox="1"/>
          <p:nvPr/>
        </p:nvSpPr>
        <p:spPr>
          <a:xfrm>
            <a:off x="694944" y="2651760"/>
            <a:ext cx="4114800" cy="365760"/>
          </a:xfrm>
          <a:prstGeom prst="rect">
            <a:avLst/>
          </a:prstGeom>
          <a:noFill/>
        </p:spPr>
        <p:txBody>
          <a:bodyPr wrap="square" anchor="t">
            <a:spAutoFit/>
          </a:bodyPr>
          <a:lstStyle/>
          <a:p>
            <a:pPr algn="l"/>
            <a:r>
              <a:rPr sz="1800" b="0" i="0">
                <a:solidFill>
                  <a:srgbClr val="B0AA9E"/>
                </a:solidFill>
                <a:latin typeface="Aptos"/>
              </a:rPr>
              <a:t>Thank you for listening.</a:t>
            </a:r>
          </a:p>
        </p:txBody>
      </p:sp>
      <p:sp>
        <p:nvSpPr>
          <p:cNvPr id="19" name="Rounded Rectangle 18"/>
          <p:cNvSpPr/>
          <p:nvPr/>
        </p:nvSpPr>
        <p:spPr>
          <a:xfrm>
            <a:off x="6583680" y="1371600"/>
            <a:ext cx="3749039" cy="3108960"/>
          </a:xfrm>
          <a:prstGeom prst="roundRect">
            <a:avLst/>
          </a:prstGeom>
          <a:solidFill>
            <a:srgbClr val="181C21"/>
          </a:solidFill>
          <a:ln>
            <a:solidFill>
              <a:srgbClr val="3E45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1691640"/>
            <a:ext cx="2926080" cy="365760"/>
          </a:xfrm>
          <a:prstGeom prst="rect">
            <a:avLst/>
          </a:prstGeom>
          <a:noFill/>
        </p:spPr>
        <p:txBody>
          <a:bodyPr wrap="square" anchor="t">
            <a:spAutoFit/>
          </a:bodyPr>
          <a:lstStyle/>
          <a:p>
            <a:pPr algn="l"/>
            <a:r>
              <a:rPr sz="2800" b="1" i="0">
                <a:solidFill>
                  <a:srgbClr val="E0823A"/>
                </a:solidFill>
                <a:latin typeface="Aptos Display"/>
              </a:rPr>
              <a:t>MALLAH</a:t>
            </a:r>
          </a:p>
        </p:txBody>
      </p:sp>
      <p:sp>
        <p:nvSpPr>
          <p:cNvPr id="21" name="TextBox 20"/>
          <p:cNvSpPr txBox="1"/>
          <p:nvPr/>
        </p:nvSpPr>
        <p:spPr>
          <a:xfrm>
            <a:off x="6903720" y="2331720"/>
            <a:ext cx="2743200" cy="1097280"/>
          </a:xfrm>
          <a:prstGeom prst="rect">
            <a:avLst/>
          </a:prstGeom>
          <a:noFill/>
        </p:spPr>
        <p:txBody>
          <a:bodyPr wrap="square" anchor="t">
            <a:spAutoFit/>
          </a:bodyPr>
          <a:lstStyle/>
          <a:p>
            <a:pPr algn="l"/>
            <a:r>
              <a:rPr sz="1800" b="1" i="0">
                <a:solidFill>
                  <a:srgbClr val="F2ECE0"/>
                </a:solidFill>
                <a:latin typeface="Aptos"/>
              </a:rPr>
              <a:t>Graduation Project
Shaqra University</a:t>
            </a:r>
          </a:p>
        </p:txBody>
      </p:sp>
      <p:sp>
        <p:nvSpPr>
          <p:cNvPr id="22" name="TextBox 21"/>
          <p:cNvSpPr txBox="1"/>
          <p:nvPr/>
        </p:nvSpPr>
        <p:spPr>
          <a:xfrm>
            <a:off x="6903720" y="3703320"/>
            <a:ext cx="2743200" cy="457200"/>
          </a:xfrm>
          <a:prstGeom prst="rect">
            <a:avLst/>
          </a:prstGeom>
          <a:noFill/>
        </p:spPr>
        <p:txBody>
          <a:bodyPr wrap="square" anchor="t">
            <a:spAutoFit/>
          </a:bodyPr>
          <a:lstStyle/>
          <a:p>
            <a:pPr algn="l"/>
            <a:r>
              <a:rPr sz="1200" b="0" i="0">
                <a:solidFill>
                  <a:srgbClr val="B0AA9E"/>
                </a:solidFill>
                <a:latin typeface="Aptos"/>
              </a:rPr>
              <a:t>AI-guided career navigation for technical learners.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